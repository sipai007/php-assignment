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73" r:id="rId5"/>
    <p:sldId id="259" r:id="rId6"/>
    <p:sldId id="274" r:id="rId7"/>
    <p:sldId id="260" r:id="rId8"/>
    <p:sldId id="275" r:id="rId9"/>
    <p:sldId id="261" r:id="rId10"/>
    <p:sldId id="276" r:id="rId11"/>
    <p:sldId id="277" r:id="rId12"/>
    <p:sldId id="262" r:id="rId13"/>
    <p:sldId id="278" r:id="rId14"/>
    <p:sldId id="263" r:id="rId15"/>
    <p:sldId id="279" r:id="rId16"/>
    <p:sldId id="280" r:id="rId17"/>
    <p:sldId id="281" r:id="rId18"/>
    <p:sldId id="264" r:id="rId19"/>
    <p:sldId id="265" r:id="rId20"/>
    <p:sldId id="282" r:id="rId21"/>
    <p:sldId id="266" r:id="rId22"/>
    <p:sldId id="283" r:id="rId23"/>
    <p:sldId id="267" r:id="rId24"/>
    <p:sldId id="284" r:id="rId25"/>
    <p:sldId id="268" r:id="rId26"/>
    <p:sldId id="269" r:id="rId27"/>
    <p:sldId id="270" r:id="rId28"/>
    <p:sldId id="271" r:id="rId29"/>
    <p:sldId id="285" r:id="rId30"/>
    <p:sldId id="286" r:id="rId31"/>
    <p:sldId id="287" r:id="rId32"/>
    <p:sldId id="288" r:id="rId33"/>
    <p:sldId id="289" r:id="rId34"/>
    <p:sldId id="290" r:id="rId35"/>
    <p:sldId id="272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8912-EEDB-EFC7-CB25-DDFADB6ED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FDF90-A690-37A1-477B-E2F591969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C933E-957C-71F4-A24E-3D1A0C9CD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133F8-7DE3-41FC-7748-928D7A24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B11F5-AF29-798A-BE9A-CAF21027F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1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18525-C310-520C-5202-BF754388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27BA0-0D22-4059-2863-79AA3E263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C7BF3-9167-71DB-D2BB-AFE48CBCB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BB26E-05EB-7204-B103-D5EAE66A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74D59-9B73-3E85-EE2A-8E683125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7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983A9-248A-476F-5136-0E3AEB4C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3583E-71BD-102E-F839-2D0C76A86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8DFE1-4BE4-009F-7C32-89BD09D7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337E7-F696-30D3-023A-EAA93EDB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D8192-F617-FC88-8639-64B00075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7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0724-EF86-E271-E310-353E1EA6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0F9ED-302A-2B07-DB8F-CEDB69EFD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BDF28-6F89-B23B-94B8-293592F64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FD66B-B4EF-93CF-0586-408DB7C2A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4B0E3-39A1-CA1D-20B3-EC0B6D81A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38AE2-5E4C-6C3B-9936-071B955F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5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ECBA-3F7A-E2FA-9B51-497C07A2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19C98-ED52-12C6-3656-95DC260E4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722A9-679D-75AF-B993-A39631CDE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1918A-718C-C845-6157-1DEB45911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B3B53-810A-1CA0-96D5-BBCE249CC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A6C6BE-CC8F-7B0E-0129-A64ED246A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76DEED-0032-AB28-A6E6-EA9C35E3B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20196C-279C-577C-B24B-02B2842C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0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9CF1-CD33-FDF0-4061-8BF1C27D0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62453-D355-0CCE-F616-4B8929A68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19A43-3B77-0A24-4A6C-CF16F587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8D7EA-5A3B-F359-CBBF-1D048935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72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4D260E-10C1-9E3E-ED54-8F73F8B9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DB6E-5678-ED5A-3640-FEB9772C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1E08F-BB56-0A6F-3756-ADB4184B0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6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56A0-CB3D-180C-E286-8C8E5DF1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D0790-B741-90E6-44F6-E5560EA76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9871A-7E0D-9C0D-BAE7-4696A29A8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D2ABE-FF10-DA5C-C321-95F8B84C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CE108-BAEF-0B73-4E0A-6CFC197F6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78A15-A136-3E34-BC74-E4E99A75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4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15F5-DEFF-0845-58AC-6E3B3908E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C9F76-D99D-4EBC-407B-54A906551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2C9B3-3E28-793B-FACB-41DBFEFF2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5E8C9-8B91-EB17-E399-8F180E0D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0B2CA-92CF-B554-7E33-36FECCF9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B94D9-9367-E0CD-F747-E3797505F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7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A4A7-6508-F883-E101-65BA699C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132BB-C37D-E0CF-461E-6B3475C39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817B7-870E-16F7-F0C6-8D48FBE2B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7DFC1-9B8D-CD61-7B31-D2357F1F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72A1D-0B3F-7B63-92FE-95F811AF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3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57C99-D3F8-26F6-5193-DA101174E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18424-2273-A70C-034C-611A3A60D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F3A99-F5AF-0D4F-BE2B-9E6695954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D75E-54F3-02DA-F725-407E1FDE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47CA2-4A2B-5DA9-1521-A3720F94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9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BC20F-82F1-FB2A-0117-07B605711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E5132-2E5C-723D-02D4-74B8325B6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B6E77-A40E-0D40-113E-00BAAF94D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0EE4F-A81E-0F81-3705-6599ED706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F6E5F-CC4E-4FA2-4ED8-6731E55AA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8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2 – Advanced PHP Exercises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OOP Concepts with Theory &amp; Practical</a:t>
            </a:r>
          </a:p>
          <a:p>
            <a:r>
              <a:t>Prepared by: Faizan Sipai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Object-Oriented Programming (OOP) is a programming paradigm based on objects.</a:t>
            </a:r>
          </a:p>
          <a:p>
            <a:endParaRPr/>
          </a:p>
          <a:p>
            <a:r>
              <a:t>Main Principles:</a:t>
            </a:r>
          </a:p>
          <a:p>
            <a:r>
              <a:t>• Encapsulation</a:t>
            </a:r>
          </a:p>
          <a:p>
            <a:r>
              <a:t>• Inheritance</a:t>
            </a:r>
          </a:p>
          <a:p>
            <a:r>
              <a:t>• Polymorphism</a:t>
            </a:r>
          </a:p>
          <a:p>
            <a:r>
              <a:t>• Abstraction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334297"/>
          </a:xfrm>
        </p:spPr>
        <p:txBody>
          <a:bodyPr>
            <a:normAutofit fontScale="90000"/>
          </a:bodyPr>
          <a:lstStyle/>
          <a:p>
            <a:r>
              <a:rPr dirty="0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974" y="334297"/>
            <a:ext cx="8279376" cy="5842666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Encapsulation means binding data and methods together.</a:t>
            </a:r>
          </a:p>
          <a:p>
            <a:r>
              <a:rPr dirty="0"/>
              <a:t>It restricts direct access using private properties and public methods.</a:t>
            </a:r>
            <a:endParaRPr lang="en-IN" dirty="0"/>
          </a:p>
          <a:p>
            <a:r>
              <a:rPr lang="en-US" b="1" dirty="0"/>
              <a:t>Why Encapsulation is Needed</a:t>
            </a:r>
          </a:p>
          <a:p>
            <a:r>
              <a:rPr lang="en-US" b="1" dirty="0"/>
              <a:t>Data Security</a:t>
            </a:r>
            <a:br>
              <a:rPr lang="en-US" dirty="0"/>
            </a:br>
            <a:r>
              <a:rPr lang="en-US" dirty="0"/>
              <a:t>Sensitive data cannot be accessed or modified directly from outside the class.</a:t>
            </a:r>
          </a:p>
          <a:p>
            <a:r>
              <a:rPr lang="en-US" b="1" dirty="0"/>
              <a:t>Controlled Access</a:t>
            </a:r>
            <a:br>
              <a:rPr lang="en-US" dirty="0"/>
            </a:br>
            <a:r>
              <a:rPr lang="en-US" dirty="0"/>
              <a:t>Data is accessed only through defined methods, allowing validation and checks.</a:t>
            </a:r>
          </a:p>
          <a:p>
            <a:r>
              <a:rPr lang="en-US" b="1" dirty="0"/>
              <a:t>Improved Maintainability</a:t>
            </a:r>
            <a:br>
              <a:rPr lang="en-US" dirty="0"/>
            </a:br>
            <a:r>
              <a:rPr lang="en-US" dirty="0"/>
              <a:t>Changes in internal implementation do not affect other parts of the program.</a:t>
            </a:r>
          </a:p>
          <a:p>
            <a:r>
              <a:rPr lang="en-US" b="1" dirty="0"/>
              <a:t>Better Code Organization</a:t>
            </a:r>
            <a:br>
              <a:rPr lang="en-US" dirty="0"/>
            </a:br>
            <a:r>
              <a:rPr lang="en-US" dirty="0"/>
              <a:t>Data and related logic stay together, making the code clean and readable.</a:t>
            </a:r>
          </a:p>
          <a:p>
            <a:r>
              <a:rPr lang="en-US" b="1" dirty="0"/>
              <a:t>Why Encapsulation is Needed</a:t>
            </a:r>
          </a:p>
          <a:p>
            <a:r>
              <a:rPr lang="en-US" b="1" dirty="0"/>
              <a:t>Data Security</a:t>
            </a:r>
            <a:br>
              <a:rPr lang="en-US" dirty="0"/>
            </a:br>
            <a:r>
              <a:rPr lang="en-US" dirty="0"/>
              <a:t>Sensitive data cannot be accessed or modified directly from outside the class.</a:t>
            </a:r>
          </a:p>
          <a:p>
            <a:r>
              <a:rPr lang="en-US" b="1" dirty="0"/>
              <a:t>Controlled Access</a:t>
            </a:r>
            <a:br>
              <a:rPr lang="en-US" dirty="0"/>
            </a:br>
            <a:r>
              <a:rPr lang="en-US" dirty="0"/>
              <a:t>Data is accessed only through defined methods, allowing validation and checks.</a:t>
            </a:r>
          </a:p>
          <a:p>
            <a:r>
              <a:rPr lang="en-US" b="1" dirty="0"/>
              <a:t>Improved Maintainability</a:t>
            </a:r>
            <a:br>
              <a:rPr lang="en-US" dirty="0"/>
            </a:br>
            <a:r>
              <a:rPr lang="en-US" dirty="0"/>
              <a:t>Changes in internal implementation do not affect other parts of the program.</a:t>
            </a:r>
          </a:p>
          <a:p>
            <a:r>
              <a:rPr lang="en-US" b="1" dirty="0"/>
              <a:t>Better Code Organization</a:t>
            </a:r>
            <a:br>
              <a:rPr lang="en-US" dirty="0"/>
            </a:br>
            <a:r>
              <a:rPr lang="en-US" dirty="0"/>
              <a:t>Data and related logic stay together, making the code clean and readable.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3FDB-F8F7-8D69-D21B-7EDD4DA3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315297"/>
          </a:xfrm>
        </p:spPr>
        <p:txBody>
          <a:bodyPr>
            <a:normAutofit fontScale="90000"/>
          </a:bodyPr>
          <a:lstStyle/>
          <a:p>
            <a:r>
              <a:rPr lang="en-IN" dirty="0"/>
              <a:t>Here example code of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5A80C-EB84-5095-1485-DBB7880B7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" y="747252"/>
            <a:ext cx="8608142" cy="5378911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class Login {</a:t>
            </a:r>
          </a:p>
          <a:p>
            <a:r>
              <a:rPr lang="en-IN" dirty="0"/>
              <a:t>    private $username = "admin";</a:t>
            </a:r>
          </a:p>
          <a:p>
            <a:r>
              <a:rPr lang="en-IN" dirty="0"/>
              <a:t>    private $password = "12345";</a:t>
            </a:r>
          </a:p>
          <a:p>
            <a:endParaRPr lang="en-IN" dirty="0"/>
          </a:p>
          <a:p>
            <a:r>
              <a:rPr lang="en-IN" dirty="0"/>
              <a:t>    public function authenticate($user, $pass) {</a:t>
            </a:r>
          </a:p>
          <a:p>
            <a:r>
              <a:rPr lang="en-IN" dirty="0"/>
              <a:t>        if ($this-&gt;username === $user &amp;&amp; $this-&gt;password === $pass) {</a:t>
            </a:r>
          </a:p>
          <a:p>
            <a:r>
              <a:rPr lang="en-IN" dirty="0"/>
              <a:t>            return "Login Successful";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    return "Login Failed";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$login = new Login();</a:t>
            </a:r>
          </a:p>
          <a:p>
            <a:r>
              <a:rPr lang="en-IN" dirty="0"/>
              <a:t>echo $login-&gt;authenticate("admin", "12345");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36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in PHP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 class is a blueprint for objects.</a:t>
            </a:r>
          </a:p>
          <a:p>
            <a:endParaRPr dirty="0"/>
          </a:p>
          <a:p>
            <a:r>
              <a:rPr dirty="0"/>
              <a:t>It contains:</a:t>
            </a:r>
          </a:p>
          <a:p>
            <a:r>
              <a:rPr dirty="0"/>
              <a:t>• Properties</a:t>
            </a:r>
          </a:p>
          <a:p>
            <a:r>
              <a:rPr dirty="0"/>
              <a:t>• Methods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Why Classes are Used</a:t>
            </a:r>
          </a:p>
          <a:p>
            <a:r>
              <a:rPr lang="en-US" b="1" dirty="0"/>
              <a:t>Code Reusability</a:t>
            </a:r>
            <a:endParaRPr lang="en-US" dirty="0"/>
          </a:p>
          <a:p>
            <a:pPr lvl="1"/>
            <a:r>
              <a:rPr lang="en-US" dirty="0"/>
              <a:t>One class can be used to create multiple objects.</a:t>
            </a:r>
          </a:p>
          <a:p>
            <a:r>
              <a:rPr lang="en-US" b="1" dirty="0"/>
              <a:t>Data Organization</a:t>
            </a:r>
            <a:endParaRPr lang="en-US" dirty="0"/>
          </a:p>
          <a:p>
            <a:pPr lvl="1"/>
            <a:r>
              <a:rPr lang="en-US" dirty="0"/>
              <a:t>Groups related data and functions together.</a:t>
            </a:r>
          </a:p>
          <a:p>
            <a:r>
              <a:rPr lang="en-US" b="1" dirty="0"/>
              <a:t>Supports OOP Concepts</a:t>
            </a:r>
            <a:endParaRPr lang="en-US" dirty="0"/>
          </a:p>
          <a:p>
            <a:pPr lvl="1"/>
            <a:r>
              <a:rPr lang="en-US" dirty="0"/>
              <a:t>Encapsulation, Inheritance, Polymorphism, Abstraction.</a:t>
            </a:r>
          </a:p>
          <a:p>
            <a:r>
              <a:rPr lang="en-US" b="1" dirty="0"/>
              <a:t>Improves Maintainability</a:t>
            </a:r>
            <a:endParaRPr lang="en-US" dirty="0"/>
          </a:p>
          <a:p>
            <a:pPr lvl="1"/>
            <a:r>
              <a:rPr lang="en-US" dirty="0"/>
              <a:t>Changes can be made in one place.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8FD3-F57C-3049-C228-C86AF39C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568" y="161234"/>
            <a:ext cx="7998542" cy="226807"/>
          </a:xfrm>
        </p:spPr>
        <p:txBody>
          <a:bodyPr>
            <a:normAutofit fontScale="90000"/>
          </a:bodyPr>
          <a:lstStyle/>
          <a:p>
            <a:r>
              <a:rPr lang="en-IN" dirty="0"/>
              <a:t>Here is example code of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B630E-C782-71AB-3640-20378F65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8762"/>
            <a:ext cx="8686800" cy="5467402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class Student {</a:t>
            </a:r>
          </a:p>
          <a:p>
            <a:r>
              <a:rPr lang="en-IN" dirty="0"/>
              <a:t>    // Properties</a:t>
            </a:r>
          </a:p>
          <a:p>
            <a:r>
              <a:rPr lang="en-IN" dirty="0"/>
              <a:t>    public $name;</a:t>
            </a:r>
          </a:p>
          <a:p>
            <a:r>
              <a:rPr lang="en-IN" dirty="0"/>
              <a:t>    public $age;</a:t>
            </a:r>
          </a:p>
          <a:p>
            <a:endParaRPr lang="en-IN" dirty="0"/>
          </a:p>
          <a:p>
            <a:r>
              <a:rPr lang="en-IN" dirty="0"/>
              <a:t>    // Method</a:t>
            </a:r>
          </a:p>
          <a:p>
            <a:r>
              <a:rPr lang="en-IN" dirty="0"/>
              <a:t>    public function </a:t>
            </a:r>
            <a:r>
              <a:rPr lang="en-IN" dirty="0" err="1"/>
              <a:t>displayDetails</a:t>
            </a:r>
            <a:r>
              <a:rPr lang="en-IN" dirty="0"/>
              <a:t>() {</a:t>
            </a:r>
          </a:p>
          <a:p>
            <a:r>
              <a:rPr lang="en-IN" dirty="0"/>
              <a:t>        echo "Name: " . $this-&gt;name . "&lt;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    echo "Age: " . $this-&gt;age;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Object creation</a:t>
            </a:r>
          </a:p>
          <a:p>
            <a:r>
              <a:rPr lang="en-IN" dirty="0"/>
              <a:t>$student = new Student();</a:t>
            </a:r>
          </a:p>
          <a:p>
            <a:r>
              <a:rPr lang="en-IN" dirty="0"/>
              <a:t>$student-&gt;name = "Faizan";</a:t>
            </a:r>
          </a:p>
          <a:p>
            <a:r>
              <a:rPr lang="en-IN" dirty="0"/>
              <a:t>$student-&gt;age = 21;</a:t>
            </a:r>
          </a:p>
          <a:p>
            <a:endParaRPr lang="en-IN" dirty="0"/>
          </a:p>
          <a:p>
            <a:r>
              <a:rPr lang="en-IN" dirty="0"/>
              <a:t>// Calling method</a:t>
            </a:r>
          </a:p>
          <a:p>
            <a:r>
              <a:rPr lang="en-IN" dirty="0"/>
              <a:t>$student-&gt;</a:t>
            </a:r>
            <a:r>
              <a:rPr lang="en-IN" dirty="0" err="1"/>
              <a:t>displayDetails</a:t>
            </a:r>
            <a:r>
              <a:rPr lang="en-IN" dirty="0"/>
              <a:t>();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6479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in PHP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 object is an instance of a class.</a:t>
            </a:r>
          </a:p>
          <a:p>
            <a:r>
              <a:rPr dirty="0"/>
              <a:t>Objects are created using the 'new' keyword.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Why Objects are Used</a:t>
            </a:r>
          </a:p>
          <a:p>
            <a:r>
              <a:rPr lang="en-US" b="1" dirty="0"/>
              <a:t>Represents Real-World Entities</a:t>
            </a:r>
            <a:br>
              <a:rPr lang="en-US" dirty="0"/>
            </a:br>
            <a:r>
              <a:rPr lang="en-US" dirty="0"/>
              <a:t>Example: Car, Student, Employee</a:t>
            </a:r>
          </a:p>
          <a:p>
            <a:r>
              <a:rPr lang="en-US" b="1" dirty="0"/>
              <a:t>Access Class Members</a:t>
            </a:r>
            <a:br>
              <a:rPr lang="en-US" dirty="0"/>
            </a:br>
            <a:r>
              <a:rPr lang="en-US" dirty="0"/>
              <a:t>Objects are used to call methods and use properties.</a:t>
            </a:r>
          </a:p>
          <a:p>
            <a:r>
              <a:rPr lang="en-US" b="1" dirty="0"/>
              <a:t>Supports Reusability</a:t>
            </a:r>
            <a:br>
              <a:rPr lang="en-US" dirty="0"/>
            </a:br>
            <a:r>
              <a:rPr lang="en-US" dirty="0"/>
              <a:t>Same class → many objects.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69DA39-5709-AF98-F0CF-EB6F467C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274638"/>
            <a:ext cx="8313174" cy="157981"/>
          </a:xfrm>
        </p:spPr>
        <p:txBody>
          <a:bodyPr>
            <a:normAutofit fontScale="90000"/>
          </a:bodyPr>
          <a:lstStyle/>
          <a:p>
            <a:r>
              <a:rPr lang="en-IN" dirty="0"/>
              <a:t>Here is example code of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A864-B0BF-D0C0-EF20-E755FD11A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" y="845574"/>
            <a:ext cx="8598310" cy="528058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Student {</a:t>
            </a:r>
          </a:p>
          <a:p>
            <a:pPr marL="0" indent="0">
              <a:buNone/>
            </a:pPr>
            <a:r>
              <a:rPr lang="en-US" dirty="0"/>
              <a:t>    public $name;</a:t>
            </a:r>
          </a:p>
          <a:p>
            <a:pPr marL="0" indent="0">
              <a:buNone/>
            </a:pPr>
            <a:r>
              <a:rPr lang="en-US" dirty="0"/>
              <a:t>    public $age;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function display() {</a:t>
            </a:r>
          </a:p>
          <a:p>
            <a:pPr marL="0" indent="0">
              <a:buNone/>
            </a:pPr>
            <a:r>
              <a:rPr lang="en-US" dirty="0"/>
              <a:t>        echo "Name: $this-&gt;name&lt;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0">
              <a:buNone/>
            </a:pPr>
            <a:r>
              <a:rPr lang="en-US" dirty="0"/>
              <a:t>        echo "Age: $this-&gt;age";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Creating object</a:t>
            </a:r>
          </a:p>
          <a:p>
            <a:pPr marL="0" indent="0">
              <a:buNone/>
            </a:pPr>
            <a:r>
              <a:rPr lang="en-US" dirty="0"/>
              <a:t>$student1 = new Student();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Assigning values</a:t>
            </a:r>
          </a:p>
          <a:p>
            <a:pPr marL="0" indent="0">
              <a:buNone/>
            </a:pPr>
            <a:r>
              <a:rPr lang="en-US" dirty="0"/>
              <a:t>$student1-&gt;name = "Faizan";</a:t>
            </a:r>
          </a:p>
          <a:p>
            <a:pPr marL="0" indent="0">
              <a:buNone/>
            </a:pPr>
            <a:r>
              <a:rPr lang="en-US" dirty="0"/>
              <a:t>$student1-&gt;age = 21;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Accessing method</a:t>
            </a:r>
          </a:p>
          <a:p>
            <a:pPr marL="0" indent="0">
              <a:buNone/>
            </a:pPr>
            <a:r>
              <a:rPr lang="en-US" dirty="0"/>
              <a:t>$student1-&gt;display();</a:t>
            </a:r>
          </a:p>
          <a:p>
            <a:pPr marL="0" indent="0">
              <a:buNone/>
            </a:pPr>
            <a:r>
              <a:rPr lang="en-US" dirty="0"/>
              <a:t>?&gt;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84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Inheritance allows a child class to acquire properties and methods of a parent class.</a:t>
            </a:r>
          </a:p>
          <a:p>
            <a:r>
              <a:rPr dirty="0"/>
              <a:t>Implemented using the 'extends' keyword.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D7D9-39AD-4EC6-C36A-6A3F1654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274638"/>
            <a:ext cx="8136194" cy="157981"/>
          </a:xfrm>
        </p:spPr>
        <p:txBody>
          <a:bodyPr>
            <a:normAutofit fontScale="90000"/>
          </a:bodyPr>
          <a:lstStyle/>
          <a:p>
            <a:r>
              <a:rPr lang="en-IN" dirty="0"/>
              <a:t>Here is basic inheritance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BDBF0-A213-CD81-33BE-DF1213C19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599768"/>
            <a:ext cx="8568813" cy="5526395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// Parent class</a:t>
            </a:r>
          </a:p>
          <a:p>
            <a:pPr marL="0" indent="0">
              <a:buNone/>
            </a:pPr>
            <a:r>
              <a:rPr lang="en-US" dirty="0"/>
              <a:t>class Vehicle {</a:t>
            </a:r>
          </a:p>
          <a:p>
            <a:pPr marL="0" indent="0">
              <a:buNone/>
            </a:pPr>
            <a:r>
              <a:rPr lang="en-US" dirty="0"/>
              <a:t>    public $brand;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public function start() {</a:t>
            </a:r>
          </a:p>
          <a:p>
            <a:pPr marL="0" indent="0">
              <a:buNone/>
            </a:pPr>
            <a:r>
              <a:rPr lang="en-US" dirty="0"/>
              <a:t>        echo "Vehicle is starting&lt;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// Child class</a:t>
            </a:r>
          </a:p>
          <a:p>
            <a:pPr marL="0" indent="0">
              <a:buNone/>
            </a:pPr>
            <a:r>
              <a:rPr lang="en-US" dirty="0"/>
              <a:t>class Car extends Vehicle {</a:t>
            </a:r>
          </a:p>
          <a:p>
            <a:pPr marL="0" indent="0">
              <a:buNone/>
            </a:pPr>
            <a:r>
              <a:rPr lang="en-US" dirty="0"/>
              <a:t>    public function drive() {</a:t>
            </a:r>
          </a:p>
          <a:p>
            <a:pPr marL="0" indent="0">
              <a:buNone/>
            </a:pPr>
            <a:r>
              <a:rPr lang="en-US" dirty="0"/>
              <a:t>        echo "Car is driving&lt;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// Object of child class</a:t>
            </a:r>
          </a:p>
          <a:p>
            <a:pPr marL="0" indent="0">
              <a:buNone/>
            </a:pPr>
            <a:r>
              <a:rPr lang="en-US" dirty="0"/>
              <a:t>$car = new Car();</a:t>
            </a:r>
          </a:p>
          <a:p>
            <a:pPr marL="0" indent="0">
              <a:buNone/>
            </a:pPr>
            <a:r>
              <a:rPr lang="en-US" dirty="0"/>
              <a:t>$car-&gt;brand = "BMW";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// Accessing parent &amp; child methods</a:t>
            </a:r>
          </a:p>
          <a:p>
            <a:pPr marL="0" indent="0">
              <a:buNone/>
            </a:pPr>
            <a:r>
              <a:rPr lang="en-US" dirty="0"/>
              <a:t>echo "Brand: " . $car-&gt;brand . "&lt;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0">
              <a:buNone/>
            </a:pPr>
            <a:r>
              <a:rPr lang="en-US" dirty="0"/>
              <a:t>$car-&gt;start();</a:t>
            </a:r>
          </a:p>
          <a:p>
            <a:pPr marL="0" indent="0">
              <a:buNone/>
            </a:pPr>
            <a:r>
              <a:rPr lang="en-US" dirty="0"/>
              <a:t>$car-&gt;drive();</a:t>
            </a:r>
          </a:p>
          <a:p>
            <a:pPr marL="0" indent="0">
              <a:buNone/>
            </a:pPr>
            <a:r>
              <a:rPr lang="en-US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42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66A3B-B08E-7D66-BD74-EBB33BCF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728" y="274638"/>
            <a:ext cx="7733071" cy="177646"/>
          </a:xfrm>
        </p:spPr>
        <p:txBody>
          <a:bodyPr>
            <a:normAutofit fontScale="90000"/>
          </a:bodyPr>
          <a:lstStyle/>
          <a:p>
            <a:r>
              <a:rPr lang="en-IN" dirty="0"/>
              <a:t>Inheritance with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A96E6-1848-9035-B529-B0DEC5CED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688258"/>
            <a:ext cx="8480323" cy="5437905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class Person {</a:t>
            </a:r>
          </a:p>
          <a:p>
            <a:r>
              <a:rPr lang="en-IN" dirty="0"/>
              <a:t>    public $name;</a:t>
            </a:r>
          </a:p>
          <a:p>
            <a:endParaRPr lang="en-IN" dirty="0"/>
          </a:p>
          <a:p>
            <a:r>
              <a:rPr lang="en-IN" dirty="0"/>
              <a:t>    public function __construct($name) {</a:t>
            </a:r>
          </a:p>
          <a:p>
            <a:r>
              <a:rPr lang="en-IN" dirty="0"/>
              <a:t>        $this-&gt;name = $name;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Student extends Person {</a:t>
            </a:r>
          </a:p>
          <a:p>
            <a:r>
              <a:rPr lang="en-IN" dirty="0"/>
              <a:t>    public $course;</a:t>
            </a:r>
          </a:p>
          <a:p>
            <a:endParaRPr lang="en-IN" dirty="0"/>
          </a:p>
          <a:p>
            <a:r>
              <a:rPr lang="en-IN" dirty="0"/>
              <a:t>    public function __construct($name, $course) {</a:t>
            </a:r>
          </a:p>
          <a:p>
            <a:r>
              <a:rPr lang="en-IN" dirty="0"/>
              <a:t>        parent::__construct($name);</a:t>
            </a:r>
          </a:p>
          <a:p>
            <a:r>
              <a:rPr lang="en-IN" dirty="0"/>
              <a:t>        $this-&gt;course = $course;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function </a:t>
            </a:r>
            <a:r>
              <a:rPr lang="en-IN" dirty="0" err="1"/>
              <a:t>showDetails</a:t>
            </a:r>
            <a:r>
              <a:rPr lang="en-IN" dirty="0"/>
              <a:t>() {</a:t>
            </a:r>
          </a:p>
          <a:p>
            <a:r>
              <a:rPr lang="en-IN" dirty="0"/>
              <a:t>        echo "Name: $this-&gt;name, Course: $this-&gt;course";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$student = new Student("Faizan", "PHP");</a:t>
            </a:r>
          </a:p>
          <a:p>
            <a:r>
              <a:rPr lang="en-IN" dirty="0"/>
              <a:t>$student-&gt;</a:t>
            </a:r>
            <a:r>
              <a:rPr lang="en-IN" dirty="0" err="1"/>
              <a:t>showDetails</a:t>
            </a:r>
            <a:r>
              <a:rPr lang="en-IN" dirty="0"/>
              <a:t>();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464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PHP does not support traditional method overloading.</a:t>
            </a:r>
          </a:p>
          <a:p>
            <a:r>
              <a:t>Implemented using magic method __call().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034D-D3A5-3089-5855-7098F152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Here is simple example code of method </a:t>
            </a:r>
            <a:r>
              <a:rPr lang="en-IN" dirty="0" err="1"/>
              <a:t>overloadnig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51A76-A43E-3D74-346E-9A2A6536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130710"/>
            <a:ext cx="8480323" cy="4995453"/>
          </a:xfrm>
        </p:spPr>
        <p:txBody>
          <a:bodyPr>
            <a:normAutofit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r>
              <a:rPr lang="en-US" dirty="0"/>
              <a:t>class Demo {</a:t>
            </a:r>
          </a:p>
          <a:p>
            <a:r>
              <a:rPr lang="en-US" dirty="0"/>
              <a:t>    public function __call($name, $params) {</a:t>
            </a:r>
          </a:p>
          <a:p>
            <a:r>
              <a:rPr lang="en-US" dirty="0"/>
              <a:t>        echo "Method: $name&lt;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r>
              <a:rPr lang="en-US" dirty="0"/>
              <a:t>        echo "Parameters: " . implode(", ", $params);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$d = new Demo();</a:t>
            </a:r>
          </a:p>
          <a:p>
            <a:r>
              <a:rPr lang="en-US" dirty="0"/>
              <a:t>$d-&gt;test(10, 20, 30);</a:t>
            </a:r>
          </a:p>
          <a:p>
            <a:r>
              <a:rPr lang="en-US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062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Abstraction &amp;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Abstraction hides implementation details.</a:t>
            </a:r>
          </a:p>
          <a:p>
            <a:r>
              <a:rPr dirty="0"/>
              <a:t>Interface defines method signatures that must be </a:t>
            </a:r>
            <a:r>
              <a:rPr lang="en-IN" dirty="0"/>
              <a:t>I</a:t>
            </a:r>
            <a:r>
              <a:rPr dirty="0" err="1"/>
              <a:t>mplemented</a:t>
            </a:r>
            <a:r>
              <a:rPr dirty="0"/>
              <a:t>.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0004DF-08B6-5700-E7C1-36707F0F3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266403"/>
              </p:ext>
            </p:extLst>
          </p:nvPr>
        </p:nvGraphicFramePr>
        <p:xfrm>
          <a:off x="304800" y="3500285"/>
          <a:ext cx="7659330" cy="2625880"/>
        </p:xfrm>
        <a:graphic>
          <a:graphicData uri="http://schemas.openxmlformats.org/drawingml/2006/table">
            <a:tbl>
              <a:tblPr/>
              <a:tblGrid>
                <a:gridCol w="3829665">
                  <a:extLst>
                    <a:ext uri="{9D8B030D-6E8A-4147-A177-3AD203B41FA5}">
                      <a16:colId xmlns:a16="http://schemas.microsoft.com/office/drawing/2014/main" val="3480060099"/>
                    </a:ext>
                  </a:extLst>
                </a:gridCol>
                <a:gridCol w="3829665">
                  <a:extLst>
                    <a:ext uri="{9D8B030D-6E8A-4147-A177-3AD203B41FA5}">
                      <a16:colId xmlns:a16="http://schemas.microsoft.com/office/drawing/2014/main" val="1350402597"/>
                    </a:ext>
                  </a:extLst>
                </a:gridCol>
              </a:tblGrid>
              <a:tr h="5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Abstract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321696"/>
                  </a:ext>
                </a:extLst>
              </a:tr>
              <a:tr h="5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Can have normal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Only abstract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788570"/>
                  </a:ext>
                </a:extLst>
              </a:tr>
              <a:tr h="5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Can have properties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properties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851662"/>
                  </a:ext>
                </a:extLst>
              </a:tr>
              <a:tr h="5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extends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implements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8400"/>
                  </a:ext>
                </a:extLst>
              </a:tr>
              <a:tr h="5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inheritance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Multiple interfaces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402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FB38-579D-A5C9-ED6C-180016EE4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274638"/>
            <a:ext cx="8037871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code of 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A4ED8-3734-A86B-8629-5A714AC97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1042220"/>
            <a:ext cx="8499987" cy="5447070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// Abstract class</a:t>
            </a:r>
          </a:p>
          <a:p>
            <a:r>
              <a:rPr lang="en-IN" dirty="0"/>
              <a:t>abstract class Vehicle {</a:t>
            </a:r>
          </a:p>
          <a:p>
            <a:endParaRPr lang="en-IN" dirty="0"/>
          </a:p>
          <a:p>
            <a:r>
              <a:rPr lang="en-IN" dirty="0"/>
              <a:t>    // Abstract method (no body)</a:t>
            </a:r>
          </a:p>
          <a:p>
            <a:r>
              <a:rPr lang="en-IN" dirty="0"/>
              <a:t>    abstract public function start();</a:t>
            </a:r>
          </a:p>
          <a:p>
            <a:endParaRPr lang="en-IN" dirty="0"/>
          </a:p>
          <a:p>
            <a:r>
              <a:rPr lang="en-IN" dirty="0"/>
              <a:t>    // Normal method</a:t>
            </a:r>
          </a:p>
          <a:p>
            <a:r>
              <a:rPr lang="en-IN" dirty="0"/>
              <a:t>    public function fuel() {</a:t>
            </a:r>
          </a:p>
          <a:p>
            <a:r>
              <a:rPr lang="en-IN" dirty="0"/>
              <a:t>        echo "Vehicle uses fuel&lt;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Child class</a:t>
            </a:r>
          </a:p>
          <a:p>
            <a:r>
              <a:rPr lang="en-IN" dirty="0"/>
              <a:t>class Car extends Vehicle {</a:t>
            </a:r>
          </a:p>
          <a:p>
            <a:endParaRPr lang="en-IN" dirty="0"/>
          </a:p>
          <a:p>
            <a:r>
              <a:rPr lang="en-IN" dirty="0"/>
              <a:t>    public function start() {</a:t>
            </a:r>
          </a:p>
          <a:p>
            <a:r>
              <a:rPr lang="en-IN" dirty="0"/>
              <a:t>        echo "Car starts with key&lt;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Object creation</a:t>
            </a:r>
          </a:p>
          <a:p>
            <a:r>
              <a:rPr lang="en-IN" dirty="0"/>
              <a:t>$car = new Car();</a:t>
            </a:r>
          </a:p>
          <a:p>
            <a:r>
              <a:rPr lang="en-IN" dirty="0"/>
              <a:t>$car-&gt;start();</a:t>
            </a:r>
          </a:p>
          <a:p>
            <a:r>
              <a:rPr lang="en-IN" dirty="0"/>
              <a:t>$car-&gt;fuel();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299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9A19-9E37-59F0-7B8A-7533A21A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274638"/>
            <a:ext cx="8568813" cy="45719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code of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A40B9-B689-0F24-6C21-907AF89DF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16077"/>
            <a:ext cx="8470490" cy="5850193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// Interface</a:t>
            </a:r>
          </a:p>
          <a:p>
            <a:r>
              <a:rPr lang="en-IN" dirty="0"/>
              <a:t>interface Animal {</a:t>
            </a:r>
          </a:p>
          <a:p>
            <a:r>
              <a:rPr lang="en-IN" dirty="0"/>
              <a:t>    public function sound();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Implementing interface</a:t>
            </a:r>
          </a:p>
          <a:p>
            <a:r>
              <a:rPr lang="en-IN" dirty="0"/>
              <a:t>class Dog implements Animal {</a:t>
            </a:r>
          </a:p>
          <a:p>
            <a:r>
              <a:rPr lang="en-IN" dirty="0"/>
              <a:t>    public function sound() {</a:t>
            </a:r>
          </a:p>
          <a:p>
            <a:r>
              <a:rPr lang="en-IN" dirty="0"/>
              <a:t>        echo "Dog barks&lt;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Cat implements Animal {</a:t>
            </a:r>
          </a:p>
          <a:p>
            <a:r>
              <a:rPr lang="en-IN" dirty="0"/>
              <a:t>    public function sound() {</a:t>
            </a:r>
          </a:p>
          <a:p>
            <a:r>
              <a:rPr lang="en-IN" dirty="0"/>
              <a:t>        echo "Cat meows&lt;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Objects</a:t>
            </a:r>
          </a:p>
          <a:p>
            <a:r>
              <a:rPr lang="en-IN" dirty="0"/>
              <a:t>$dog = new Dog();</a:t>
            </a:r>
          </a:p>
          <a:p>
            <a:r>
              <a:rPr lang="en-IN" dirty="0"/>
              <a:t>$dog-&gt;sound();</a:t>
            </a:r>
          </a:p>
          <a:p>
            <a:endParaRPr lang="en-IN" dirty="0"/>
          </a:p>
          <a:p>
            <a:r>
              <a:rPr lang="en-IN" dirty="0"/>
              <a:t>$cat = new Cat();</a:t>
            </a:r>
          </a:p>
          <a:p>
            <a:r>
              <a:rPr lang="en-IN" dirty="0"/>
              <a:t>$cat-&gt;sound();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26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F147-2C16-D61E-C9C9-C19C7AEE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Example code of combined(</a:t>
            </a:r>
            <a:r>
              <a:rPr lang="en-IN" dirty="0" err="1"/>
              <a:t>abstract+interface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D5223-780E-A336-4678-5733A10B8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interface Payment {</a:t>
            </a:r>
          </a:p>
          <a:p>
            <a:r>
              <a:rPr lang="en-IN" dirty="0"/>
              <a:t>    public function pay();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abstract class </a:t>
            </a:r>
            <a:r>
              <a:rPr lang="en-IN" dirty="0" err="1"/>
              <a:t>OnlinePayment</a:t>
            </a:r>
            <a:r>
              <a:rPr lang="en-IN" dirty="0"/>
              <a:t> {</a:t>
            </a:r>
          </a:p>
          <a:p>
            <a:r>
              <a:rPr lang="en-IN" dirty="0"/>
              <a:t>    public function message() {</a:t>
            </a:r>
          </a:p>
          <a:p>
            <a:r>
              <a:rPr lang="en-IN" dirty="0"/>
              <a:t>        echo "Processing payment...&lt;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CreditCard</a:t>
            </a:r>
            <a:r>
              <a:rPr lang="en-IN" dirty="0"/>
              <a:t> extends </a:t>
            </a:r>
            <a:r>
              <a:rPr lang="en-IN" dirty="0" err="1"/>
              <a:t>OnlinePayment</a:t>
            </a:r>
            <a:r>
              <a:rPr lang="en-IN" dirty="0"/>
              <a:t> implements Payment {</a:t>
            </a:r>
          </a:p>
          <a:p>
            <a:r>
              <a:rPr lang="en-IN" dirty="0"/>
              <a:t>    public function pay() {</a:t>
            </a:r>
          </a:p>
          <a:p>
            <a:r>
              <a:rPr lang="en-IN" dirty="0"/>
              <a:t>        echo "Payment done using Credit Card&lt;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$payment = new </a:t>
            </a:r>
            <a:r>
              <a:rPr lang="en-IN" dirty="0" err="1"/>
              <a:t>CreditCard</a:t>
            </a:r>
            <a:r>
              <a:rPr lang="en-IN" dirty="0"/>
              <a:t>();</a:t>
            </a:r>
          </a:p>
          <a:p>
            <a:r>
              <a:rPr lang="en-IN" dirty="0"/>
              <a:t>$payment-&gt;message();</a:t>
            </a:r>
          </a:p>
          <a:p>
            <a:r>
              <a:rPr lang="en-IN" dirty="0"/>
              <a:t>$payment-&gt;pay();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002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Constructor (__construct) initializes object properties automatically.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Destructor (__destruct) is called when an object is destroyed.</a:t>
            </a:r>
          </a:p>
          <a:p>
            <a:r>
              <a:t>Used for cleanup tasks.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E899D-C55E-B136-E63F-F3F74D1A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</a:t>
            </a:r>
            <a:r>
              <a:rPr lang="en-IN" dirty="0" err="1"/>
              <a:t>destructure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4D258-498C-2C36-7A21-559C55940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r>
              <a:rPr lang="en-US" dirty="0"/>
              <a:t>class Test {</a:t>
            </a:r>
          </a:p>
          <a:p>
            <a:r>
              <a:rPr lang="en-US" dirty="0"/>
              <a:t>    public function __construct() {</a:t>
            </a:r>
          </a:p>
          <a:p>
            <a:r>
              <a:rPr lang="en-US" dirty="0"/>
              <a:t>        echo "Object Created&lt;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function __destruct() {</a:t>
            </a:r>
          </a:p>
          <a:p>
            <a:r>
              <a:rPr lang="en-US" dirty="0"/>
              <a:t>        echo "Object Destroyed";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$obj = new Test();</a:t>
            </a:r>
          </a:p>
          <a:p>
            <a:r>
              <a:rPr lang="en-US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513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Magic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Magic methods start with __</a:t>
            </a:r>
          </a:p>
          <a:p>
            <a:endParaRPr/>
          </a:p>
          <a:p>
            <a:r>
              <a:t>Common magic methods:</a:t>
            </a:r>
          </a:p>
          <a:p>
            <a:r>
              <a:t>__construct(), __get(), __set()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2D35-2DD0-7C67-DE25-61358800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Exapmle</a:t>
            </a:r>
            <a:r>
              <a:rPr lang="en-IN" dirty="0"/>
              <a:t> of magic </a:t>
            </a:r>
            <a:r>
              <a:rPr lang="en-IN" dirty="0" err="1"/>
              <a:t>methode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3E707-8917-6AEE-A8D8-B9DCFAE63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r>
              <a:rPr lang="en-US" dirty="0"/>
              <a:t>class Student {</a:t>
            </a:r>
          </a:p>
          <a:p>
            <a:r>
              <a:rPr lang="en-US" dirty="0"/>
              <a:t>    private $data = [];</a:t>
            </a:r>
          </a:p>
          <a:p>
            <a:endParaRPr lang="en-US" dirty="0"/>
          </a:p>
          <a:p>
            <a:r>
              <a:rPr lang="en-US" dirty="0"/>
              <a:t>    // Called when setting undefined/private property</a:t>
            </a:r>
          </a:p>
          <a:p>
            <a:r>
              <a:rPr lang="en-US" dirty="0"/>
              <a:t>    public function __set($name, $value) {</a:t>
            </a:r>
          </a:p>
          <a:p>
            <a:r>
              <a:rPr lang="en-US" dirty="0"/>
              <a:t>        $this-&gt;data[$name] = $value;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Called when accessing undefined/private property</a:t>
            </a:r>
          </a:p>
          <a:p>
            <a:r>
              <a:rPr lang="en-US" dirty="0"/>
              <a:t>    public function __get($name) {</a:t>
            </a:r>
          </a:p>
          <a:p>
            <a:r>
              <a:rPr lang="en-US" dirty="0"/>
              <a:t>        return $this-&gt;data[$name];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$s = new Student();</a:t>
            </a:r>
          </a:p>
          <a:p>
            <a:r>
              <a:rPr lang="en-US" dirty="0"/>
              <a:t>$s-&gt;name = "Faizan";     // __set called</a:t>
            </a:r>
          </a:p>
          <a:p>
            <a:r>
              <a:rPr lang="en-US" dirty="0"/>
              <a:t>$s-&gt;age = 21;</a:t>
            </a:r>
          </a:p>
          <a:p>
            <a:endParaRPr lang="en-US" dirty="0"/>
          </a:p>
          <a:p>
            <a:r>
              <a:rPr lang="en-US" dirty="0"/>
              <a:t>echo $s-&gt;name . "&lt;</a:t>
            </a:r>
            <a:r>
              <a:rPr lang="en-US" dirty="0" err="1"/>
              <a:t>br</a:t>
            </a:r>
            <a:r>
              <a:rPr lang="en-US" dirty="0"/>
              <a:t>&gt;"; // __get called</a:t>
            </a:r>
          </a:p>
          <a:p>
            <a:r>
              <a:rPr lang="en-US" dirty="0"/>
              <a:t>echo $s-&gt;age;</a:t>
            </a:r>
          </a:p>
          <a:p>
            <a:r>
              <a:rPr lang="en-US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198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Resolution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:: operator is used to access static properties and methods.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7EDA-DA75-143C-80D3-CB1FCBF58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652" cy="45719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of scope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6843B-0934-B13A-406C-BD25851C8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723" y="744794"/>
            <a:ext cx="8229600" cy="4957916"/>
          </a:xfrm>
        </p:spPr>
        <p:txBody>
          <a:bodyPr>
            <a:normAutofit/>
          </a:bodyPr>
          <a:lstStyle/>
          <a:p>
            <a:r>
              <a:rPr lang="en-US" dirty="0"/>
              <a:t>Example 1: Access Static Property using ::</a:t>
            </a:r>
          </a:p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r>
              <a:rPr lang="en-US" dirty="0"/>
              <a:t>class Counter {</a:t>
            </a:r>
          </a:p>
          <a:p>
            <a:r>
              <a:rPr lang="en-US" dirty="0"/>
              <a:t>    public static $count =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Accessing static property</a:t>
            </a:r>
          </a:p>
          <a:p>
            <a:r>
              <a:rPr lang="en-US" dirty="0"/>
              <a:t>echo Counter::$count;</a:t>
            </a:r>
          </a:p>
          <a:p>
            <a:r>
              <a:rPr lang="en-US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919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Traits are used for code reusability.</a:t>
            </a:r>
          </a:p>
          <a:p>
            <a:r>
              <a:t>A class can use multiple traits.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7"/>
            <a:r>
              <a:rPr dirty="0"/>
              <a:t>public – accessible everywhere</a:t>
            </a:r>
          </a:p>
          <a:p>
            <a:r>
              <a:rPr dirty="0"/>
              <a:t>private – accessible only inside class</a:t>
            </a:r>
          </a:p>
          <a:p>
            <a:r>
              <a:rPr dirty="0"/>
              <a:t>protected – accessible in child classes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Visibility</a:t>
            </a:r>
            <a:br>
              <a:rPr lang="en-IN" dirty="0"/>
            </a:b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90846C-42CF-D100-A7D9-A2529DD29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520813" cy="2637503"/>
          </a:xfrm>
        </p:spPr>
        <p:txBody>
          <a:bodyPr>
            <a:normAutofit/>
          </a:bodyPr>
          <a:lstStyle/>
          <a:p>
            <a:pPr marL="3200400" lvl="7" indent="0">
              <a:buNone/>
            </a:pPr>
            <a:endParaRPr lang="en-US" dirty="0"/>
          </a:p>
          <a:p>
            <a:r>
              <a:rPr lang="en-US" dirty="0"/>
              <a:t>private – accessible only inside class</a:t>
            </a:r>
          </a:p>
          <a:p>
            <a:r>
              <a:rPr lang="en-US" dirty="0"/>
              <a:t>protected – accessible in child classes</a:t>
            </a:r>
          </a:p>
          <a:p>
            <a:r>
              <a:rPr lang="en-US" dirty="0"/>
              <a:t>Public- accessible anywhere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keyword prevents inheritance and method overriding.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FC95-4C1D-D976-0D07-F808424B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0925"/>
            <a:ext cx="8229600" cy="45719"/>
          </a:xfrm>
        </p:spPr>
        <p:txBody>
          <a:bodyPr>
            <a:normAutofit fontScale="90000"/>
          </a:bodyPr>
          <a:lstStyle/>
          <a:p>
            <a:r>
              <a:rPr lang="en-IN" dirty="0"/>
              <a:t>Email Security Function –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215A-AF77-7EFE-07C8-C18DC66A1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4228"/>
            <a:ext cx="8686800" cy="63437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Email security is very important in web applications because email is commonly used for </a:t>
            </a:r>
            <a:r>
              <a:rPr lang="en-US" b="1" dirty="0"/>
              <a:t>user registration, password recovery, notifications, and communication</a:t>
            </a:r>
            <a:r>
              <a:rPr lang="en-US" dirty="0"/>
              <a:t>. If email security is not properly implemented, sensitive information such as </a:t>
            </a:r>
            <a:r>
              <a:rPr lang="en-US" b="1" dirty="0"/>
              <a:t>user credentials, personal data, and system access links</a:t>
            </a:r>
            <a:r>
              <a:rPr lang="en-US" dirty="0"/>
              <a:t> can be exposed to attackers.</a:t>
            </a:r>
          </a:p>
          <a:p>
            <a:r>
              <a:rPr lang="en-US" b="1" dirty="0"/>
              <a:t>Importance of Email Security</a:t>
            </a:r>
          </a:p>
          <a:p>
            <a:r>
              <a:rPr lang="en-US" b="1" dirty="0"/>
              <a:t>Protects Sensitive Information</a:t>
            </a:r>
            <a:br>
              <a:rPr lang="en-US" dirty="0"/>
            </a:br>
            <a:r>
              <a:rPr lang="en-US" dirty="0"/>
              <a:t>Emails often contain confidential data like passwords, OTPs, verification links, and personal details. Email security ensures that this information is not intercepted or misused.</a:t>
            </a:r>
          </a:p>
          <a:p>
            <a:r>
              <a:rPr lang="en-US" b="1" dirty="0"/>
              <a:t>Prevents Unauthorized Access</a:t>
            </a:r>
            <a:br>
              <a:rPr lang="en-US" dirty="0"/>
            </a:br>
            <a:r>
              <a:rPr lang="en-US" dirty="0"/>
              <a:t>Insecure email handling can allow attackers to send fake emails, reset passwords, or gain access to user accounts.</a:t>
            </a:r>
          </a:p>
          <a:p>
            <a:r>
              <a:rPr lang="en-US" b="1" dirty="0"/>
              <a:t>Avoids Spam and Phishing Attacks</a:t>
            </a:r>
            <a:br>
              <a:rPr lang="en-US" dirty="0"/>
            </a:br>
            <a:r>
              <a:rPr lang="en-US" dirty="0"/>
              <a:t>Proper validation and security measures help prevent phishing emails that trick users into sharing sensitive information.</a:t>
            </a:r>
          </a:p>
          <a:p>
            <a:r>
              <a:rPr lang="en-US" b="1" dirty="0"/>
              <a:t>Maintains User Trust</a:t>
            </a:r>
            <a:br>
              <a:rPr lang="en-US" dirty="0"/>
            </a:br>
            <a:r>
              <a:rPr lang="en-US" dirty="0"/>
              <a:t>Secure email communication increases user confidence in the application and protects the organization’s reputation.</a:t>
            </a:r>
          </a:p>
          <a:p>
            <a:r>
              <a:rPr lang="en-US" b="1" dirty="0"/>
              <a:t>Ensures Data Integrity</a:t>
            </a:r>
            <a:br>
              <a:rPr lang="en-US" dirty="0"/>
            </a:br>
            <a:r>
              <a:rPr lang="en-US" dirty="0"/>
              <a:t>Email security ensures that the message content is not altered during transmission.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9905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32C5-8253-653B-FC0C-1B29B8C2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58" y="274638"/>
            <a:ext cx="7693742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File Handling in PHP – Theory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5A584-82A7-10AC-6F32-E9AB15A13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727587"/>
            <a:ext cx="8299040" cy="5449376"/>
          </a:xfrm>
        </p:spPr>
        <p:txBody>
          <a:bodyPr/>
          <a:lstStyle/>
          <a:p>
            <a:r>
              <a:rPr lang="en-US" dirty="0"/>
              <a:t>File handling in PHP refers to the process of </a:t>
            </a:r>
            <a:r>
              <a:rPr lang="en-US" b="1" dirty="0"/>
              <a:t>creating, opening, reading, writing, and closing files</a:t>
            </a:r>
            <a:r>
              <a:rPr lang="en-US" dirty="0"/>
              <a:t> stored on the server. It allows PHP applications to store data permanently, such as </a:t>
            </a:r>
            <a:r>
              <a:rPr lang="en-US" b="1" dirty="0"/>
              <a:t>logs, user information, configuration settings, and reports</a:t>
            </a:r>
            <a:r>
              <a:rPr lang="en-US" dirty="0"/>
              <a:t>. Proper file handling is essential for data management and application functionality.</a:t>
            </a:r>
          </a:p>
          <a:p>
            <a:r>
              <a:rPr lang="en-US" b="1" dirty="0"/>
              <a:t>Common File Modes:</a:t>
            </a:r>
            <a:endParaRPr lang="en-US" dirty="0"/>
          </a:p>
          <a:p>
            <a:r>
              <a:rPr lang="en-US" dirty="0"/>
              <a:t>r – Read only (file must exist)</a:t>
            </a:r>
          </a:p>
          <a:p>
            <a:r>
              <a:rPr lang="en-US" dirty="0"/>
              <a:t>w – Write only (creates file if not exists, overwrites existing file)</a:t>
            </a:r>
          </a:p>
          <a:p>
            <a:r>
              <a:rPr lang="en-US" dirty="0"/>
              <a:t>a – Append (adds data to the end of file)</a:t>
            </a:r>
          </a:p>
          <a:p>
            <a:r>
              <a:rPr lang="en-US" dirty="0"/>
              <a:t>r+ – Read and write</a:t>
            </a:r>
          </a:p>
          <a:p>
            <a:r>
              <a:rPr lang="en-US" dirty="0"/>
              <a:t>w+ – Read and write (overwrites file)</a:t>
            </a:r>
          </a:p>
          <a:p>
            <a:r>
              <a:rPr lang="en-US" dirty="0"/>
              <a:t>Opening a file allocates system resources and prepares the file for further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781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4D01-379C-6847-C267-4ECC33F4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7316"/>
            <a:ext cx="7886700" cy="668593"/>
          </a:xfrm>
        </p:spPr>
        <p:txBody>
          <a:bodyPr>
            <a:normAutofit/>
          </a:bodyPr>
          <a:lstStyle/>
          <a:p>
            <a:r>
              <a:rPr lang="en-IN" dirty="0"/>
              <a:t>MVC Architecture –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57FF1-2D9F-851D-E316-C6A8EA57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268361"/>
            <a:ext cx="8318705" cy="3264310"/>
          </a:xfrm>
        </p:spPr>
        <p:txBody>
          <a:bodyPr>
            <a:normAutofit/>
          </a:bodyPr>
          <a:lstStyle/>
          <a:p>
            <a:r>
              <a:rPr lang="en-US" b="1" dirty="0"/>
              <a:t>1. What is MVC?</a:t>
            </a:r>
          </a:p>
          <a:p>
            <a:r>
              <a:rPr lang="en-US" dirty="0"/>
              <a:t>The </a:t>
            </a:r>
            <a:r>
              <a:rPr lang="en-US" b="1" dirty="0"/>
              <a:t>Model-View-Controller (MVC)</a:t>
            </a:r>
            <a:r>
              <a:rPr lang="en-US" dirty="0"/>
              <a:t> architecture is a </a:t>
            </a:r>
            <a:r>
              <a:rPr lang="en-US" b="1" dirty="0"/>
              <a:t>design pattern</a:t>
            </a:r>
            <a:r>
              <a:rPr lang="en-US" dirty="0"/>
              <a:t> used in web development to separate an application into three main components:</a:t>
            </a:r>
          </a:p>
          <a:p>
            <a:r>
              <a:rPr lang="en-US" b="1" dirty="0"/>
              <a:t>Model</a:t>
            </a:r>
            <a:r>
              <a:rPr lang="en-US" dirty="0"/>
              <a:t> – Manages data, business logic, and database interactions.</a:t>
            </a:r>
          </a:p>
          <a:p>
            <a:r>
              <a:rPr lang="en-US" b="1" dirty="0"/>
              <a:t>View</a:t>
            </a:r>
            <a:r>
              <a:rPr lang="en-US" dirty="0"/>
              <a:t> – Handles the presentation layer (UI), displaying data to users.</a:t>
            </a:r>
          </a:p>
          <a:p>
            <a:r>
              <a:rPr lang="en-US" b="1" dirty="0"/>
              <a:t>Controller</a:t>
            </a:r>
            <a:r>
              <a:rPr lang="en-US" dirty="0"/>
              <a:t> – Processes user input, interacts with the Model, and decides which View to render.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4379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998C-953E-355A-0A40-8648A2073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5718"/>
            <a:ext cx="78867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3979C-B7F3-0D84-F11F-B5024FD00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1"/>
            <a:ext cx="8417027" cy="6176962"/>
          </a:xfrm>
        </p:spPr>
        <p:txBody>
          <a:bodyPr/>
          <a:lstStyle/>
          <a:p>
            <a:r>
              <a:rPr lang="en-US" b="1" dirty="0"/>
              <a:t>2. Advantages of MVC Architecture</a:t>
            </a:r>
          </a:p>
          <a:p>
            <a:r>
              <a:rPr lang="en-US" b="1" dirty="0"/>
              <a:t>Separation of Concerns</a:t>
            </a:r>
            <a:endParaRPr lang="en-US" dirty="0"/>
          </a:p>
          <a:p>
            <a:pPr lvl="1"/>
            <a:r>
              <a:rPr lang="en-US" dirty="0"/>
              <a:t>Each component has a specific responsibility.</a:t>
            </a:r>
          </a:p>
          <a:p>
            <a:pPr lvl="1"/>
            <a:r>
              <a:rPr lang="en-US" dirty="0"/>
              <a:t>Makes code easier to manage and debug.</a:t>
            </a:r>
          </a:p>
          <a:p>
            <a:r>
              <a:rPr lang="en-US" b="1" dirty="0"/>
              <a:t>Reusability</a:t>
            </a:r>
            <a:endParaRPr lang="en-US" dirty="0"/>
          </a:p>
          <a:p>
            <a:pPr lvl="1"/>
            <a:r>
              <a:rPr lang="en-US" dirty="0"/>
              <a:t>Models and Views can be reused across multiple controllers or projects.</a:t>
            </a:r>
          </a:p>
          <a:p>
            <a:r>
              <a:rPr lang="en-US" b="1" dirty="0"/>
              <a:t>Maintainability</a:t>
            </a:r>
            <a:endParaRPr lang="en-US" dirty="0"/>
          </a:p>
          <a:p>
            <a:pPr lvl="1"/>
            <a:r>
              <a:rPr lang="en-US" dirty="0"/>
              <a:t>Updates to business logic (Model) do not affect the presentation (View).</a:t>
            </a:r>
          </a:p>
          <a:p>
            <a:r>
              <a:rPr lang="en-US" b="1" dirty="0"/>
              <a:t>Scalability</a:t>
            </a:r>
            <a:endParaRPr lang="en-US" dirty="0"/>
          </a:p>
          <a:p>
            <a:pPr lvl="1"/>
            <a:r>
              <a:rPr lang="en-US" dirty="0"/>
              <a:t>Easier to expand the application by adding new models, views, or controllers.</a:t>
            </a:r>
          </a:p>
          <a:p>
            <a:r>
              <a:rPr lang="en-US" b="1" dirty="0"/>
              <a:t>Supports Team Development</a:t>
            </a:r>
            <a:endParaRPr lang="en-US" dirty="0"/>
          </a:p>
          <a:p>
            <a:pPr lvl="1"/>
            <a:r>
              <a:rPr lang="en-US" dirty="0"/>
              <a:t>Designers can work on Views, developers on Models, and controllers separately.</a:t>
            </a:r>
          </a:p>
          <a:p>
            <a:r>
              <a:rPr lang="en-US" b="1" dirty="0"/>
              <a:t>Improved Testing</a:t>
            </a:r>
            <a:endParaRPr lang="en-US" dirty="0"/>
          </a:p>
          <a:p>
            <a:pPr lvl="1"/>
            <a:r>
              <a:rPr lang="en-US" dirty="0"/>
              <a:t>Since components are separated, unit testing is easier.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834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89FB-09DF-CE68-45FB-C6C08742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9028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Simple MVC Example</a:t>
            </a:r>
            <a:br>
              <a:rPr lang="en-IN" b="1" dirty="0"/>
            </a:br>
            <a:r>
              <a:rPr lang="en-IN" b="1" dirty="0"/>
              <a:t>Folder Structure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C6690-2179-1F30-9FF2-AE5C3D20F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3267485"/>
          </a:xfrm>
        </p:spPr>
        <p:txBody>
          <a:bodyPr/>
          <a:lstStyle/>
          <a:p>
            <a:r>
              <a:rPr lang="en-IN" dirty="0" err="1"/>
              <a:t>mvc</a:t>
            </a:r>
            <a:r>
              <a:rPr lang="en-IN" dirty="0"/>
              <a:t>/</a:t>
            </a:r>
          </a:p>
          <a:p>
            <a:r>
              <a:rPr lang="en-IN" dirty="0"/>
              <a:t>├── </a:t>
            </a:r>
            <a:r>
              <a:rPr lang="en-IN" dirty="0" err="1"/>
              <a:t>index.php</a:t>
            </a:r>
            <a:endParaRPr lang="en-IN" dirty="0"/>
          </a:p>
          <a:p>
            <a:r>
              <a:rPr lang="en-IN" dirty="0"/>
              <a:t>├── controllers/</a:t>
            </a:r>
          </a:p>
          <a:p>
            <a:r>
              <a:rPr lang="en-IN" dirty="0"/>
              <a:t>│   └── </a:t>
            </a:r>
            <a:r>
              <a:rPr lang="en-IN" dirty="0" err="1"/>
              <a:t>UserController.php</a:t>
            </a:r>
            <a:endParaRPr lang="en-IN" dirty="0"/>
          </a:p>
          <a:p>
            <a:r>
              <a:rPr lang="en-IN" dirty="0"/>
              <a:t>├── models/</a:t>
            </a:r>
          </a:p>
          <a:p>
            <a:r>
              <a:rPr lang="en-IN" dirty="0"/>
              <a:t>│   └── </a:t>
            </a:r>
            <a:r>
              <a:rPr lang="en-IN" dirty="0" err="1"/>
              <a:t>User.php</a:t>
            </a:r>
            <a:endParaRPr lang="en-IN" dirty="0"/>
          </a:p>
          <a:p>
            <a:r>
              <a:rPr lang="en-IN" dirty="0"/>
              <a:t>└── views/</a:t>
            </a:r>
          </a:p>
          <a:p>
            <a:r>
              <a:rPr lang="en-IN" dirty="0"/>
              <a:t>    └── </a:t>
            </a:r>
            <a:r>
              <a:rPr lang="en-IN" dirty="0" err="1"/>
              <a:t>user_view.php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302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06B7-ACE5-56FE-FF89-F633B973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563F-A80C-E8AF-3316-C2916FB0D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Explanation of MVC Flow</a:t>
            </a:r>
          </a:p>
          <a:p>
            <a:r>
              <a:rPr lang="en-IN" b="1" dirty="0"/>
              <a:t>User visits</a:t>
            </a:r>
            <a:r>
              <a:rPr lang="en-IN" dirty="0"/>
              <a:t> the application (</a:t>
            </a:r>
            <a:r>
              <a:rPr lang="en-IN" dirty="0" err="1"/>
              <a:t>index.php</a:t>
            </a:r>
            <a:r>
              <a:rPr lang="en-IN" dirty="0"/>
              <a:t>)</a:t>
            </a:r>
          </a:p>
          <a:p>
            <a:r>
              <a:rPr lang="en-IN" b="1" dirty="0"/>
              <a:t>Controller</a:t>
            </a:r>
            <a:r>
              <a:rPr lang="en-IN" dirty="0"/>
              <a:t> (</a:t>
            </a:r>
            <a:r>
              <a:rPr lang="en-IN" dirty="0" err="1"/>
              <a:t>UserController</a:t>
            </a:r>
            <a:r>
              <a:rPr lang="en-IN" dirty="0"/>
              <a:t>) is called</a:t>
            </a:r>
          </a:p>
          <a:p>
            <a:r>
              <a:rPr lang="en-IN" dirty="0"/>
              <a:t>Controller </a:t>
            </a:r>
            <a:r>
              <a:rPr lang="en-IN" b="1" dirty="0"/>
              <a:t>retrieves data</a:t>
            </a:r>
            <a:r>
              <a:rPr lang="en-IN" dirty="0"/>
              <a:t> from the </a:t>
            </a:r>
            <a:r>
              <a:rPr lang="en-IN" b="1" dirty="0"/>
              <a:t>Model</a:t>
            </a:r>
            <a:r>
              <a:rPr lang="en-IN" dirty="0"/>
              <a:t> (User)</a:t>
            </a:r>
          </a:p>
          <a:p>
            <a:r>
              <a:rPr lang="en-IN" dirty="0"/>
              <a:t>Controller </a:t>
            </a:r>
            <a:r>
              <a:rPr lang="en-IN" b="1" dirty="0"/>
              <a:t>passes data</a:t>
            </a:r>
            <a:r>
              <a:rPr lang="en-IN" dirty="0"/>
              <a:t> to the </a:t>
            </a:r>
            <a:r>
              <a:rPr lang="en-IN" b="1" dirty="0"/>
              <a:t>View</a:t>
            </a:r>
            <a:r>
              <a:rPr lang="en-IN" dirty="0"/>
              <a:t> (</a:t>
            </a:r>
            <a:r>
              <a:rPr lang="en-IN" dirty="0" err="1"/>
              <a:t>user_view.php</a:t>
            </a:r>
            <a:r>
              <a:rPr lang="en-IN" dirty="0"/>
              <a:t>)</a:t>
            </a:r>
          </a:p>
          <a:p>
            <a:r>
              <a:rPr lang="en-IN" dirty="0"/>
              <a:t>View </a:t>
            </a:r>
            <a:r>
              <a:rPr lang="en-IN" b="1" dirty="0"/>
              <a:t>renders the HTML</a:t>
            </a:r>
            <a:r>
              <a:rPr lang="en-IN" dirty="0"/>
              <a:t> for the user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57851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7987" y="274638"/>
            <a:ext cx="8804787" cy="45719"/>
          </a:xfrm>
        </p:spPr>
        <p:txBody>
          <a:bodyPr>
            <a:normAutofit fontScale="90000"/>
          </a:bodyPr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23" y="550606"/>
            <a:ext cx="8588477" cy="630739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Advanced PHP plays a crucial role in building </a:t>
            </a:r>
            <a:r>
              <a:rPr lang="en-US" b="1" dirty="0"/>
              <a:t>secure, scalable, and maintainable web applications</a:t>
            </a:r>
            <a:r>
              <a:rPr lang="en-US" dirty="0"/>
              <a:t>. By using </a:t>
            </a:r>
            <a:r>
              <a:rPr lang="en-US" b="1" dirty="0"/>
              <a:t>Object-Oriented Programming (OOP) concepts</a:t>
            </a:r>
            <a:r>
              <a:rPr lang="en-US" dirty="0"/>
              <a:t>, PHP developers can organize code efficiently, improve reusability, and reduce complexity in large projects. Concepts such as </a:t>
            </a:r>
            <a:r>
              <a:rPr lang="en-US" b="1" dirty="0"/>
              <a:t>classes, objects, encapsulation, inheritance, polymorphism, and abstraction</a:t>
            </a:r>
            <a:r>
              <a:rPr lang="en-US" dirty="0"/>
              <a:t> help in creating modular applications where each component has a clear responsibility.</a:t>
            </a:r>
          </a:p>
          <a:p>
            <a:r>
              <a:rPr lang="en-US" dirty="0"/>
              <a:t>The use of </a:t>
            </a:r>
            <a:r>
              <a:rPr lang="en-US" b="1" dirty="0"/>
              <a:t>constructors, destructors, and magic methods</a:t>
            </a:r>
            <a:r>
              <a:rPr lang="en-US" dirty="0"/>
              <a:t> enhances automation in object lifecycle management, making applications more efficient and easier to manage. Features like </a:t>
            </a:r>
            <a:r>
              <a:rPr lang="en-US" b="1" dirty="0"/>
              <a:t>scope resolution operator, traits, visibility modifiers, type hinting, and the final keyword</a:t>
            </a:r>
            <a:r>
              <a:rPr lang="en-US" dirty="0"/>
              <a:t> provide better control over class behavior, access levels, and code reuse, ensuring clean and well-structured programming practices.</a:t>
            </a:r>
          </a:p>
          <a:p>
            <a:r>
              <a:rPr lang="en-US" dirty="0"/>
              <a:t>Advanced PHP also emphasizes </a:t>
            </a:r>
            <a:r>
              <a:rPr lang="en-US" b="1" dirty="0"/>
              <a:t>security and data integrity</a:t>
            </a:r>
            <a:r>
              <a:rPr lang="en-US" dirty="0"/>
              <a:t>. Techniques such as </a:t>
            </a:r>
            <a:r>
              <a:rPr lang="en-US" b="1" dirty="0"/>
              <a:t>input validation, prepared statements to prevent SQL injection, secure email handling, session and cookie management, and safe file uploads</a:t>
            </a:r>
            <a:r>
              <a:rPr lang="en-US" dirty="0"/>
              <a:t> protect applications from common vulnerabilities. Exception handling using </a:t>
            </a:r>
            <a:r>
              <a:rPr lang="en-US" b="1" dirty="0"/>
              <a:t>try-catch blocks</a:t>
            </a:r>
            <a:r>
              <a:rPr lang="en-US" dirty="0"/>
              <a:t> further improves application stability by allowing graceful error handling and better debugging.</a:t>
            </a:r>
          </a:p>
          <a:p>
            <a:r>
              <a:rPr lang="en-US" dirty="0"/>
              <a:t>The </a:t>
            </a:r>
            <a:r>
              <a:rPr lang="en-US" b="1" dirty="0"/>
              <a:t>MVC (Model-View-Controller) architecture</a:t>
            </a:r>
            <a:r>
              <a:rPr lang="en-US" dirty="0"/>
              <a:t> is a major advantage of Advanced PHP, as it separates business logic, user interface, and control flow. This separation makes applications easier to develop, test, maintain, and scale. MVC-based development is widely used in modern frameworks and enterprise-level applications.</a:t>
            </a:r>
          </a:p>
          <a:p>
            <a:r>
              <a:rPr lang="en-US" dirty="0"/>
              <a:t>In conclusion, Advanced PHP is not just about writing PHP code, but about following </a:t>
            </a:r>
            <a:r>
              <a:rPr lang="en-US" b="1" dirty="0"/>
              <a:t>professional development standards</a:t>
            </a:r>
            <a:r>
              <a:rPr lang="en-US" dirty="0"/>
              <a:t>. Mastery of Advanced PHP concepts enables developers to build </a:t>
            </a:r>
            <a:r>
              <a:rPr lang="en-US" b="1" dirty="0"/>
              <a:t>real-world applications</a:t>
            </a:r>
            <a:r>
              <a:rPr lang="en-US" dirty="0"/>
              <a:t> such as content management systems, e-commerce platforms, and management systems with high performance, strong security, and long-term maintainability. It forms a solid foundation for learning modern PHP frameworks and for becoming a skilled backend web developer.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2482</Words>
  <Application>Microsoft Office PowerPoint</Application>
  <PresentationFormat>On-screen Show (4:3)</PresentationFormat>
  <Paragraphs>400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Courier New</vt:lpstr>
      <vt:lpstr>Office Theme</vt:lpstr>
      <vt:lpstr>Module 2 – Advanced PHP Exercises</vt:lpstr>
      <vt:lpstr>OOP Introduction</vt:lpstr>
      <vt:lpstr>Encapsulation</vt:lpstr>
      <vt:lpstr>Here example code of encapsulation</vt:lpstr>
      <vt:lpstr>Class in PHP</vt:lpstr>
      <vt:lpstr>Here is example code of class</vt:lpstr>
      <vt:lpstr>Object in PHP</vt:lpstr>
      <vt:lpstr>Here is example code of object</vt:lpstr>
      <vt:lpstr>Inheritance</vt:lpstr>
      <vt:lpstr>Here is basic inheritance example</vt:lpstr>
      <vt:lpstr>Inheritance with constructor</vt:lpstr>
      <vt:lpstr>Method Overloading</vt:lpstr>
      <vt:lpstr>Here is simple example code of method overloadnig</vt:lpstr>
      <vt:lpstr>Abstraction &amp; Interface</vt:lpstr>
      <vt:lpstr>Example code of abstract class</vt:lpstr>
      <vt:lpstr>Example code of interface</vt:lpstr>
      <vt:lpstr>Example code of combined(abstract+interface)</vt:lpstr>
      <vt:lpstr>Constructor</vt:lpstr>
      <vt:lpstr>Destructor</vt:lpstr>
      <vt:lpstr>Example of destructure</vt:lpstr>
      <vt:lpstr>Magic Methods</vt:lpstr>
      <vt:lpstr>Exapmle of magic methode</vt:lpstr>
      <vt:lpstr>Scope Resolution Operator</vt:lpstr>
      <vt:lpstr>Example of scope resolution</vt:lpstr>
      <vt:lpstr>Traits</vt:lpstr>
      <vt:lpstr>Visibility</vt:lpstr>
      <vt:lpstr>Visibility </vt:lpstr>
      <vt:lpstr>Final Keyword</vt:lpstr>
      <vt:lpstr>Email Security Function – Theory</vt:lpstr>
      <vt:lpstr>File Handling in PHP – Theory</vt:lpstr>
      <vt:lpstr>MVC Architecture – Theory</vt:lpstr>
      <vt:lpstr>PowerPoint Presentation</vt:lpstr>
      <vt:lpstr>Simple MVC Example Folder Structure 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dell</cp:lastModifiedBy>
  <cp:revision>20</cp:revision>
  <dcterms:created xsi:type="dcterms:W3CDTF">2013-01-27T09:14:16Z</dcterms:created>
  <dcterms:modified xsi:type="dcterms:W3CDTF">2025-12-22T06:45:36Z</dcterms:modified>
  <cp:category/>
</cp:coreProperties>
</file>