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8" r:id="rId4"/>
    <p:sldId id="273" r:id="rId5"/>
    <p:sldId id="259" r:id="rId6"/>
    <p:sldId id="274" r:id="rId7"/>
    <p:sldId id="260" r:id="rId8"/>
    <p:sldId id="275" r:id="rId9"/>
    <p:sldId id="261" r:id="rId10"/>
    <p:sldId id="276" r:id="rId11"/>
    <p:sldId id="277" r:id="rId12"/>
    <p:sldId id="262" r:id="rId13"/>
    <p:sldId id="278" r:id="rId14"/>
    <p:sldId id="263" r:id="rId15"/>
    <p:sldId id="279" r:id="rId16"/>
    <p:sldId id="280" r:id="rId17"/>
    <p:sldId id="281" r:id="rId18"/>
    <p:sldId id="264" r:id="rId19"/>
    <p:sldId id="265" r:id="rId20"/>
    <p:sldId id="282" r:id="rId21"/>
    <p:sldId id="266" r:id="rId22"/>
    <p:sldId id="283" r:id="rId23"/>
    <p:sldId id="267" r:id="rId24"/>
    <p:sldId id="284" r:id="rId25"/>
    <p:sldId id="268" r:id="rId26"/>
    <p:sldId id="269" r:id="rId27"/>
    <p:sldId id="291" r:id="rId28"/>
    <p:sldId id="271" r:id="rId29"/>
    <p:sldId id="285" r:id="rId30"/>
    <p:sldId id="286" r:id="rId31"/>
    <p:sldId id="292" r:id="rId32"/>
    <p:sldId id="293" r:id="rId33"/>
    <p:sldId id="294" r:id="rId34"/>
    <p:sldId id="295" r:id="rId35"/>
    <p:sldId id="296" r:id="rId36"/>
    <p:sldId id="297" r:id="rId37"/>
    <p:sldId id="298" r:id="rId38"/>
    <p:sldId id="299" r:id="rId39"/>
    <p:sldId id="300" r:id="rId40"/>
    <p:sldId id="301" r:id="rId41"/>
    <p:sldId id="287" r:id="rId42"/>
    <p:sldId id="288" r:id="rId43"/>
    <p:sldId id="289" r:id="rId44"/>
    <p:sldId id="290" r:id="rId45"/>
    <p:sldId id="272" r:id="rId4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10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55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78912-EEDB-EFC7-CB25-DDFADB6ED1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BFDF90-A690-37A1-477B-E2F5919694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FC933E-957C-71F4-A24E-3D1A0C9CD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B133F8-7DE3-41FC-7748-928D7A24C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CB11F5-AF29-798A-BE9A-CAF21027F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812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18525-C310-520C-5202-BF754388E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27BA0-0D22-4059-2863-79AA3E2639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FC7BF3-9167-71DB-D2BB-AFE48CBCB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BBB26E-05EB-7204-B103-D5EAE66AD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174D59-9B73-3E85-EE2A-8E6831251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179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983A9-248A-476F-5136-0E3AEB4C0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13583E-71BD-102E-F839-2D0C76A86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28DFE1-4BE4-009F-7C32-89BD09D7D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B337E7-F696-30D3-023A-EAA93EDBD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9D8192-F617-FC88-8639-64B000751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378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10724-EF86-E271-E310-353E1EA64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0F9ED-302A-2B07-DB8F-CEDB69EFD4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6BDF28-6F89-B23B-94B8-293592F646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2FD66B-B4EF-93CF-0586-408DB7C2A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14B0E3-39A1-CA1D-20B3-EC0B6D81A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938AE2-5E4C-6C3B-9936-071B955FF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157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1ECBA-3F7A-E2FA-9B51-497C07A28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19C98-ED52-12C6-3656-95DC260E4E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2722A9-679D-75AF-B993-A39631CDEC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31918A-718C-C845-6157-1DEB459113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3B3B53-810A-1CA0-96D5-BBCE249CC8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A6C6BE-CC8F-7B0E-0129-A64ED246A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76DEED-0032-AB28-A6E6-EA9C35E3B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20196C-279C-577C-B24B-02B2842C5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50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19CF1-CD33-FDF0-4061-8BF1C27D0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D62453-D355-0CCE-F616-4B8929A68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919A43-3B77-0A24-4A6C-CF16F5872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B8D7EA-5A3B-F359-CBBF-1D048935C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272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4D260E-10C1-9E3E-ED54-8F73F8B93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73DB6E-5678-ED5A-3640-FEB9772C9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61E08F-BB56-0A6F-3756-ADB4184B0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668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B56A0-CB3D-180C-E286-8C8E5DF19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D0790-B741-90E6-44F6-E5560EA76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19871A-7E0D-9C0D-BAE7-4696A29A8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1D2ABE-FF10-DA5C-C321-95F8B84C2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DCE108-BAEF-0B73-4E0A-6CFC197F6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A78A15-A136-3E34-BC74-E4E99A756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345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115F5-DEFF-0845-58AC-6E3B3908E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C9F76-D99D-4EBC-407B-54A9065511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62C9B3-3E28-793B-FACB-41DBFEFF28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B5E8C9-8B91-EB17-E399-8F180E0D6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E0B2CA-92CF-B554-7E33-36FECCF95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AB94D9-9367-E0CD-F747-E3797505F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473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EA4A7-6508-F883-E101-65BA699CF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E132BB-C37D-E0CF-461E-6B3475C39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F817B7-870E-16F7-F0C6-8D48FBE2B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77DFC1-9B8D-CD61-7B31-D2357F1F8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672A1D-0B3F-7B63-92FE-95F811AF3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632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C57C99-D3F8-26F6-5193-DA101174E1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B18424-2273-A70C-034C-611A3A60DC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F3A99-F5AF-0D4F-BE2B-9E6695954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03D75E-54F3-02DA-F725-407E1FDE1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47CA2-4A2B-5DA9-1521-A3720F944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399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6BC20F-82F1-FB2A-0117-07B605711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9E5132-2E5C-723D-02D4-74B8325B61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B6E77-A40E-0D40-113E-00BAAF94DE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0EE4F-A81E-0F81-3705-6599ED7064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0F6E5F-CC4E-4FA2-4ED8-6731E55AAE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887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Module 2 – Advanced PHP Exercises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OOP Concepts with Theory &amp; Practical</a:t>
            </a:r>
          </a:p>
          <a:p>
            <a:r>
              <a:t>Prepared by: Faizan Sipai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OOP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Object-Oriented Programming (OOP) is a programming paradigm based on objects.</a:t>
            </a:r>
          </a:p>
          <a:p>
            <a:endParaRPr/>
          </a:p>
          <a:p>
            <a:r>
              <a:t>Main Principles:</a:t>
            </a:r>
          </a:p>
          <a:p>
            <a:r>
              <a:t>• Encapsulation</a:t>
            </a:r>
          </a:p>
          <a:p>
            <a:r>
              <a:t>• Inheritance</a:t>
            </a:r>
          </a:p>
          <a:p>
            <a:r>
              <a:t>• Polymorphism</a:t>
            </a:r>
          </a:p>
          <a:p>
            <a:r>
              <a:t>• Abstraction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0"/>
            <a:ext cx="7886700" cy="334297"/>
          </a:xfrm>
        </p:spPr>
        <p:txBody>
          <a:bodyPr>
            <a:normAutofit fontScale="90000"/>
          </a:bodyPr>
          <a:lstStyle/>
          <a:p>
            <a:r>
              <a:rPr dirty="0"/>
              <a:t>Encapsulation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5974" y="334297"/>
            <a:ext cx="8279376" cy="5842666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Encapsulation means binding data and methods together.</a:t>
            </a:r>
          </a:p>
          <a:p>
            <a:r>
              <a:rPr dirty="0"/>
              <a:t>It restricts direct access using private properties and public methods.</a:t>
            </a:r>
            <a:endParaRPr lang="en-IN" dirty="0"/>
          </a:p>
          <a:p>
            <a:r>
              <a:rPr lang="en-US" b="1" dirty="0"/>
              <a:t>Why Encapsulation is Needed</a:t>
            </a:r>
          </a:p>
          <a:p>
            <a:r>
              <a:rPr lang="en-US" b="1" dirty="0"/>
              <a:t>Data Security</a:t>
            </a:r>
            <a:br>
              <a:rPr lang="en-US" dirty="0"/>
            </a:br>
            <a:r>
              <a:rPr lang="en-US" dirty="0"/>
              <a:t>Sensitive data cannot be accessed or modified directly from outside the class.</a:t>
            </a:r>
          </a:p>
          <a:p>
            <a:r>
              <a:rPr lang="en-US" b="1" dirty="0"/>
              <a:t>Controlled Access</a:t>
            </a:r>
            <a:br>
              <a:rPr lang="en-US" dirty="0"/>
            </a:br>
            <a:r>
              <a:rPr lang="en-US" dirty="0"/>
              <a:t>Data is accessed only through defined methods, allowing validation and checks.</a:t>
            </a:r>
          </a:p>
          <a:p>
            <a:r>
              <a:rPr lang="en-US" b="1" dirty="0"/>
              <a:t>Improved Maintainability</a:t>
            </a:r>
            <a:br>
              <a:rPr lang="en-US" dirty="0"/>
            </a:br>
            <a:r>
              <a:rPr lang="en-US" dirty="0"/>
              <a:t>Changes in internal implementation do not affect other parts of the program.</a:t>
            </a:r>
          </a:p>
          <a:p>
            <a:r>
              <a:rPr lang="en-US" b="1" dirty="0"/>
              <a:t>Better Code Organization</a:t>
            </a:r>
            <a:br>
              <a:rPr lang="en-US" dirty="0"/>
            </a:br>
            <a:r>
              <a:rPr lang="en-US" dirty="0"/>
              <a:t>Data and related logic stay together, making the code clean and readable.</a:t>
            </a:r>
          </a:p>
          <a:p>
            <a:r>
              <a:rPr lang="en-US" b="1" dirty="0"/>
              <a:t>Why Encapsulation is Needed</a:t>
            </a:r>
          </a:p>
          <a:p>
            <a:r>
              <a:rPr lang="en-US" b="1" dirty="0"/>
              <a:t>Data Security</a:t>
            </a:r>
            <a:br>
              <a:rPr lang="en-US" dirty="0"/>
            </a:br>
            <a:r>
              <a:rPr lang="en-US" dirty="0"/>
              <a:t>Sensitive data cannot be accessed or modified directly from outside the class.</a:t>
            </a:r>
          </a:p>
          <a:p>
            <a:r>
              <a:rPr lang="en-US" b="1" dirty="0"/>
              <a:t>Controlled Access</a:t>
            </a:r>
            <a:br>
              <a:rPr lang="en-US" dirty="0"/>
            </a:br>
            <a:r>
              <a:rPr lang="en-US" dirty="0"/>
              <a:t>Data is accessed only through defined methods, allowing validation and checks.</a:t>
            </a:r>
          </a:p>
          <a:p>
            <a:r>
              <a:rPr lang="en-US" b="1" dirty="0"/>
              <a:t>Improved Maintainability</a:t>
            </a:r>
            <a:br>
              <a:rPr lang="en-US" dirty="0"/>
            </a:br>
            <a:r>
              <a:rPr lang="en-US" dirty="0"/>
              <a:t>Changes in internal implementation do not affect other parts of the program.</a:t>
            </a:r>
          </a:p>
          <a:p>
            <a:r>
              <a:rPr lang="en-US" b="1" dirty="0"/>
              <a:t>Better Code Organization</a:t>
            </a:r>
            <a:br>
              <a:rPr lang="en-US" dirty="0"/>
            </a:br>
            <a:r>
              <a:rPr lang="en-US" dirty="0"/>
              <a:t>Data and related logic stay together, making the code clean and readable.</a:t>
            </a:r>
          </a:p>
          <a:p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73FDB-F8F7-8D69-D21B-7EDD4DA3C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8077200" cy="315297"/>
          </a:xfrm>
        </p:spPr>
        <p:txBody>
          <a:bodyPr>
            <a:normAutofit fontScale="90000"/>
          </a:bodyPr>
          <a:lstStyle/>
          <a:p>
            <a:r>
              <a:rPr lang="en-IN" dirty="0"/>
              <a:t>Here example code of encapsulation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5A80C-EB84-5095-1485-DBB7880B7C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58" y="747252"/>
            <a:ext cx="8608142" cy="5378911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&lt;?</a:t>
            </a:r>
            <a:r>
              <a:rPr lang="en-IN" dirty="0" err="1"/>
              <a:t>php</a:t>
            </a:r>
            <a:endParaRPr lang="en-IN" dirty="0"/>
          </a:p>
          <a:p>
            <a:r>
              <a:rPr lang="en-IN" dirty="0"/>
              <a:t>class Login {</a:t>
            </a:r>
          </a:p>
          <a:p>
            <a:r>
              <a:rPr lang="en-IN" dirty="0"/>
              <a:t>    private $username = "admin";</a:t>
            </a:r>
          </a:p>
          <a:p>
            <a:r>
              <a:rPr lang="en-IN" dirty="0"/>
              <a:t>    private $password = "12345";</a:t>
            </a:r>
          </a:p>
          <a:p>
            <a:endParaRPr lang="en-IN" dirty="0"/>
          </a:p>
          <a:p>
            <a:r>
              <a:rPr lang="en-IN" dirty="0"/>
              <a:t>    public function authenticate($user, $pass) {</a:t>
            </a:r>
          </a:p>
          <a:p>
            <a:r>
              <a:rPr lang="en-IN" dirty="0"/>
              <a:t>        if ($this-&gt;username === $user &amp;&amp; $this-&gt;password === $pass) {</a:t>
            </a:r>
          </a:p>
          <a:p>
            <a:r>
              <a:rPr lang="en-IN" dirty="0"/>
              <a:t>            return "Login Successful";</a:t>
            </a:r>
          </a:p>
          <a:p>
            <a:r>
              <a:rPr lang="en-IN" dirty="0"/>
              <a:t>        }</a:t>
            </a:r>
          </a:p>
          <a:p>
            <a:r>
              <a:rPr lang="en-IN" dirty="0"/>
              <a:t>        return "Login Failed";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$login = new Login();</a:t>
            </a:r>
          </a:p>
          <a:p>
            <a:r>
              <a:rPr lang="en-IN" dirty="0"/>
              <a:t>echo $login-&gt;authenticate("admin", "12345");</a:t>
            </a:r>
          </a:p>
          <a:p>
            <a:r>
              <a:rPr lang="en-IN" dirty="0"/>
              <a:t>?&gt;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6367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 in PHP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A class is a blueprint for objects.</a:t>
            </a:r>
          </a:p>
          <a:p>
            <a:endParaRPr dirty="0"/>
          </a:p>
          <a:p>
            <a:r>
              <a:rPr dirty="0"/>
              <a:t>It contains:</a:t>
            </a:r>
          </a:p>
          <a:p>
            <a:r>
              <a:rPr dirty="0"/>
              <a:t>• Properties</a:t>
            </a:r>
          </a:p>
          <a:p>
            <a:r>
              <a:rPr dirty="0"/>
              <a:t>• Methods</a:t>
            </a:r>
            <a:endParaRPr lang="en-IN" dirty="0"/>
          </a:p>
          <a:p>
            <a:endParaRPr lang="en-IN" dirty="0"/>
          </a:p>
          <a:p>
            <a:r>
              <a:rPr lang="en-US" b="1" dirty="0"/>
              <a:t>Why Classes are Used</a:t>
            </a:r>
          </a:p>
          <a:p>
            <a:r>
              <a:rPr lang="en-US" b="1" dirty="0"/>
              <a:t>Code Reusability</a:t>
            </a:r>
            <a:endParaRPr lang="en-US" dirty="0"/>
          </a:p>
          <a:p>
            <a:pPr lvl="1"/>
            <a:r>
              <a:rPr lang="en-US" dirty="0"/>
              <a:t>One class can be used to create multiple objects.</a:t>
            </a:r>
          </a:p>
          <a:p>
            <a:r>
              <a:rPr lang="en-US" b="1" dirty="0"/>
              <a:t>Data Organization</a:t>
            </a:r>
            <a:endParaRPr lang="en-US" dirty="0"/>
          </a:p>
          <a:p>
            <a:pPr lvl="1"/>
            <a:r>
              <a:rPr lang="en-US" dirty="0"/>
              <a:t>Groups related data and functions together.</a:t>
            </a:r>
          </a:p>
          <a:p>
            <a:r>
              <a:rPr lang="en-US" b="1" dirty="0"/>
              <a:t>Supports OOP Concepts</a:t>
            </a:r>
            <a:endParaRPr lang="en-US" dirty="0"/>
          </a:p>
          <a:p>
            <a:pPr lvl="1"/>
            <a:r>
              <a:rPr lang="en-US" dirty="0"/>
              <a:t>Encapsulation, Inheritance, Polymorphism, Abstraction.</a:t>
            </a:r>
          </a:p>
          <a:p>
            <a:r>
              <a:rPr lang="en-US" b="1" dirty="0"/>
              <a:t>Improves Maintainability</a:t>
            </a:r>
            <a:endParaRPr lang="en-US" dirty="0"/>
          </a:p>
          <a:p>
            <a:pPr lvl="1"/>
            <a:r>
              <a:rPr lang="en-US" dirty="0"/>
              <a:t>Changes can be made in one place.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08FD3-F57C-3049-C228-C86AF39C7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568" y="161234"/>
            <a:ext cx="7998542" cy="226807"/>
          </a:xfrm>
        </p:spPr>
        <p:txBody>
          <a:bodyPr>
            <a:normAutofit fontScale="90000"/>
          </a:bodyPr>
          <a:lstStyle/>
          <a:p>
            <a:r>
              <a:rPr lang="en-IN" dirty="0"/>
              <a:t>Here is example code of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B630E-C782-71AB-3640-20378F65E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58762"/>
            <a:ext cx="8686800" cy="5467402"/>
          </a:xfrm>
        </p:spPr>
        <p:txBody>
          <a:bodyPr>
            <a:normAutofit fontScale="62500" lnSpcReduction="20000"/>
          </a:bodyPr>
          <a:lstStyle/>
          <a:p>
            <a:r>
              <a:rPr lang="en-IN" dirty="0"/>
              <a:t>&lt;?</a:t>
            </a:r>
            <a:r>
              <a:rPr lang="en-IN" dirty="0" err="1"/>
              <a:t>php</a:t>
            </a:r>
            <a:endParaRPr lang="en-IN" dirty="0"/>
          </a:p>
          <a:p>
            <a:r>
              <a:rPr lang="en-IN" dirty="0"/>
              <a:t>class Student {</a:t>
            </a:r>
          </a:p>
          <a:p>
            <a:r>
              <a:rPr lang="en-IN" dirty="0"/>
              <a:t>    // Properties</a:t>
            </a:r>
          </a:p>
          <a:p>
            <a:r>
              <a:rPr lang="en-IN" dirty="0"/>
              <a:t>    public $name;</a:t>
            </a:r>
          </a:p>
          <a:p>
            <a:r>
              <a:rPr lang="en-IN" dirty="0"/>
              <a:t>    public $age;</a:t>
            </a:r>
          </a:p>
          <a:p>
            <a:endParaRPr lang="en-IN" dirty="0"/>
          </a:p>
          <a:p>
            <a:r>
              <a:rPr lang="en-IN" dirty="0"/>
              <a:t>    // Method</a:t>
            </a:r>
          </a:p>
          <a:p>
            <a:r>
              <a:rPr lang="en-IN" dirty="0"/>
              <a:t>    public function </a:t>
            </a:r>
            <a:r>
              <a:rPr lang="en-IN" dirty="0" err="1"/>
              <a:t>displayDetails</a:t>
            </a:r>
            <a:r>
              <a:rPr lang="en-IN" dirty="0"/>
              <a:t>() {</a:t>
            </a:r>
          </a:p>
          <a:p>
            <a:r>
              <a:rPr lang="en-IN" dirty="0"/>
              <a:t>        echo "Name: " . $this-&gt;name . "&lt;</a:t>
            </a:r>
            <a:r>
              <a:rPr lang="en-IN" dirty="0" err="1"/>
              <a:t>br</a:t>
            </a:r>
            <a:r>
              <a:rPr lang="en-IN" dirty="0"/>
              <a:t>&gt;";</a:t>
            </a:r>
          </a:p>
          <a:p>
            <a:r>
              <a:rPr lang="en-IN" dirty="0"/>
              <a:t>        echo "Age: " . $this-&gt;age;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// Object creation</a:t>
            </a:r>
          </a:p>
          <a:p>
            <a:r>
              <a:rPr lang="en-IN" dirty="0"/>
              <a:t>$student = new Student();</a:t>
            </a:r>
          </a:p>
          <a:p>
            <a:r>
              <a:rPr lang="en-IN" dirty="0"/>
              <a:t>$student-&gt;name = "Faizan";</a:t>
            </a:r>
          </a:p>
          <a:p>
            <a:r>
              <a:rPr lang="en-IN" dirty="0"/>
              <a:t>$student-&gt;age = 21;</a:t>
            </a:r>
          </a:p>
          <a:p>
            <a:endParaRPr lang="en-IN" dirty="0"/>
          </a:p>
          <a:p>
            <a:r>
              <a:rPr lang="en-IN" dirty="0"/>
              <a:t>// Calling method</a:t>
            </a:r>
          </a:p>
          <a:p>
            <a:r>
              <a:rPr lang="en-IN" dirty="0"/>
              <a:t>$student-&gt;</a:t>
            </a:r>
            <a:r>
              <a:rPr lang="en-IN" dirty="0" err="1"/>
              <a:t>displayDetails</a:t>
            </a:r>
            <a:r>
              <a:rPr lang="en-IN" dirty="0"/>
              <a:t>();</a:t>
            </a:r>
          </a:p>
          <a:p>
            <a:r>
              <a:rPr lang="en-IN" dirty="0"/>
              <a:t>?&gt;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6479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 in PHP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An object is an instance of a class.</a:t>
            </a:r>
          </a:p>
          <a:p>
            <a:r>
              <a:rPr dirty="0"/>
              <a:t>Objects are created using the 'new' keyword.</a:t>
            </a:r>
            <a:endParaRPr lang="en-IN" dirty="0"/>
          </a:p>
          <a:p>
            <a:endParaRPr lang="en-IN" dirty="0"/>
          </a:p>
          <a:p>
            <a:r>
              <a:rPr lang="en-US" b="1" dirty="0"/>
              <a:t>Why Objects are Used</a:t>
            </a:r>
          </a:p>
          <a:p>
            <a:r>
              <a:rPr lang="en-US" b="1" dirty="0"/>
              <a:t>Represents Real-World Entities</a:t>
            </a:r>
            <a:br>
              <a:rPr lang="en-US" dirty="0"/>
            </a:br>
            <a:r>
              <a:rPr lang="en-US" dirty="0"/>
              <a:t>Example: Car, Student, Employee</a:t>
            </a:r>
          </a:p>
          <a:p>
            <a:r>
              <a:rPr lang="en-US" b="1" dirty="0"/>
              <a:t>Access Class Members</a:t>
            </a:r>
            <a:br>
              <a:rPr lang="en-US" dirty="0"/>
            </a:br>
            <a:r>
              <a:rPr lang="en-US" dirty="0"/>
              <a:t>Objects are used to call methods and use properties.</a:t>
            </a:r>
          </a:p>
          <a:p>
            <a:r>
              <a:rPr lang="en-US" b="1" dirty="0"/>
              <a:t>Supports Reusability</a:t>
            </a:r>
            <a:br>
              <a:rPr lang="en-US" dirty="0"/>
            </a:br>
            <a:r>
              <a:rPr lang="en-US" dirty="0"/>
              <a:t>Same class → many objects.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D69DA39-5709-AF98-F0CF-EB6F467C6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26" y="274638"/>
            <a:ext cx="8313174" cy="157981"/>
          </a:xfrm>
        </p:spPr>
        <p:txBody>
          <a:bodyPr>
            <a:normAutofit fontScale="90000"/>
          </a:bodyPr>
          <a:lstStyle/>
          <a:p>
            <a:r>
              <a:rPr lang="en-IN" dirty="0"/>
              <a:t>Here is example code of 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7A864-B0BF-D0C0-EF20-E755FD11A8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90" y="845574"/>
            <a:ext cx="8598310" cy="5280589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&lt;?</a:t>
            </a:r>
            <a:r>
              <a:rPr lang="en-US" dirty="0" err="1"/>
              <a:t>php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class Student {</a:t>
            </a:r>
          </a:p>
          <a:p>
            <a:pPr marL="0" indent="0">
              <a:buNone/>
            </a:pPr>
            <a:r>
              <a:rPr lang="en-US" dirty="0"/>
              <a:t>    public $name;</a:t>
            </a:r>
          </a:p>
          <a:p>
            <a:pPr marL="0" indent="0">
              <a:buNone/>
            </a:pPr>
            <a:r>
              <a:rPr lang="en-US" dirty="0"/>
              <a:t>    public $age;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public function display() {</a:t>
            </a:r>
          </a:p>
          <a:p>
            <a:pPr marL="0" indent="0">
              <a:buNone/>
            </a:pPr>
            <a:r>
              <a:rPr lang="en-US" dirty="0"/>
              <a:t>        echo "Name: $this-&gt;name&lt;</a:t>
            </a:r>
            <a:r>
              <a:rPr lang="en-US" dirty="0" err="1"/>
              <a:t>br</a:t>
            </a:r>
            <a:r>
              <a:rPr lang="en-US" dirty="0"/>
              <a:t>&gt;";</a:t>
            </a:r>
          </a:p>
          <a:p>
            <a:pPr marL="0" indent="0">
              <a:buNone/>
            </a:pPr>
            <a:r>
              <a:rPr lang="en-US" dirty="0"/>
              <a:t>        echo "Age: $this-&gt;age";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// Creating object</a:t>
            </a:r>
          </a:p>
          <a:p>
            <a:pPr marL="0" indent="0">
              <a:buNone/>
            </a:pPr>
            <a:r>
              <a:rPr lang="en-US" dirty="0"/>
              <a:t>$student1 = new Student();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// Assigning values</a:t>
            </a:r>
          </a:p>
          <a:p>
            <a:pPr marL="0" indent="0">
              <a:buNone/>
            </a:pPr>
            <a:r>
              <a:rPr lang="en-US" dirty="0"/>
              <a:t>$student1-&gt;name = "Faizan";</a:t>
            </a:r>
          </a:p>
          <a:p>
            <a:pPr marL="0" indent="0">
              <a:buNone/>
            </a:pPr>
            <a:r>
              <a:rPr lang="en-US" dirty="0"/>
              <a:t>$student1-&gt;age = 21;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// Accessing method</a:t>
            </a:r>
          </a:p>
          <a:p>
            <a:pPr marL="0" indent="0">
              <a:buNone/>
            </a:pPr>
            <a:r>
              <a:rPr lang="en-US" dirty="0"/>
              <a:t>$student1-&gt;display();</a:t>
            </a:r>
          </a:p>
          <a:p>
            <a:pPr marL="0" indent="0">
              <a:buNone/>
            </a:pPr>
            <a:r>
              <a:rPr lang="en-US" dirty="0"/>
              <a:t>?&gt;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7845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9534" y="365126"/>
            <a:ext cx="7315815" cy="45719"/>
          </a:xfrm>
        </p:spPr>
        <p:txBody>
          <a:bodyPr>
            <a:normAutofit fontScale="90000"/>
          </a:bodyPr>
          <a:lstStyle/>
          <a:p>
            <a:r>
              <a:rPr dirty="0"/>
              <a:t>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6645" y="845574"/>
            <a:ext cx="8318705" cy="5833972"/>
          </a:xfrm>
        </p:spPr>
        <p:txBody>
          <a:bodyPr/>
          <a:lstStyle/>
          <a:p>
            <a:r>
              <a:rPr dirty="0"/>
              <a:t>Inheritance allows a child class to acquire properties and methods of a parent class.</a:t>
            </a:r>
          </a:p>
          <a:p>
            <a:r>
              <a:rPr dirty="0"/>
              <a:t>Implemented using the 'extends' keyword.</a:t>
            </a:r>
            <a:endParaRPr lang="en-US" dirty="0"/>
          </a:p>
          <a:p>
            <a:r>
              <a:rPr lang="en-US" b="1" dirty="0"/>
              <a:t>Types of Inheritance Supported by PHP</a:t>
            </a:r>
          </a:p>
          <a:p>
            <a:r>
              <a:rPr lang="en-US" b="1" dirty="0"/>
              <a:t>Single Inheritance</a:t>
            </a:r>
            <a:endParaRPr lang="en-US" dirty="0"/>
          </a:p>
          <a:p>
            <a:pPr lvl="1"/>
            <a:r>
              <a:rPr lang="en-US" dirty="0"/>
              <a:t>One child inherits from one parent class</a:t>
            </a:r>
          </a:p>
          <a:p>
            <a:pPr lvl="1"/>
            <a:r>
              <a:rPr lang="en-US" dirty="0"/>
              <a:t>✔ Supported</a:t>
            </a:r>
          </a:p>
          <a:p>
            <a:r>
              <a:rPr lang="en-US" b="1" dirty="0"/>
              <a:t>Multilevel Inheritance</a:t>
            </a:r>
            <a:endParaRPr lang="en-US" dirty="0"/>
          </a:p>
          <a:p>
            <a:pPr lvl="1"/>
            <a:r>
              <a:rPr lang="en-US" dirty="0"/>
              <a:t>Child inherits from another child</a:t>
            </a:r>
          </a:p>
          <a:p>
            <a:pPr lvl="1"/>
            <a:r>
              <a:rPr lang="en-US" dirty="0"/>
              <a:t>✔ Supported</a:t>
            </a:r>
          </a:p>
          <a:p>
            <a:r>
              <a:rPr lang="en-US" b="1" dirty="0"/>
              <a:t>Multiple Inheritance</a:t>
            </a:r>
            <a:endParaRPr lang="en-US" dirty="0"/>
          </a:p>
          <a:p>
            <a:pPr lvl="1"/>
            <a:r>
              <a:rPr lang="en-US" dirty="0"/>
              <a:t>One class inherits from multiple classes</a:t>
            </a:r>
          </a:p>
          <a:p>
            <a:pPr lvl="1"/>
            <a:r>
              <a:rPr lang="en-US" dirty="0"/>
              <a:t>❌ Not supported directly</a:t>
            </a:r>
          </a:p>
          <a:p>
            <a:pPr lvl="1"/>
            <a:r>
              <a:rPr lang="en-US" dirty="0"/>
              <a:t>✔ Achieved using </a:t>
            </a:r>
            <a:r>
              <a:rPr lang="en-US" b="1" dirty="0"/>
              <a:t>Traits</a:t>
            </a:r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8D7D9-39AD-4EC6-C36A-6A3F16541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606" y="274638"/>
            <a:ext cx="8136194" cy="157981"/>
          </a:xfrm>
        </p:spPr>
        <p:txBody>
          <a:bodyPr>
            <a:normAutofit fontScale="90000"/>
          </a:bodyPr>
          <a:lstStyle/>
          <a:p>
            <a:r>
              <a:rPr lang="en-IN" dirty="0"/>
              <a:t>Here is basic inheritance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BDBF0-A213-CD81-33BE-DF1213C19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87" y="599768"/>
            <a:ext cx="8568813" cy="5526395"/>
          </a:xfrm>
        </p:spPr>
        <p:txBody>
          <a:bodyPr>
            <a:normAutofit fontScale="47500" lnSpcReduction="20000"/>
          </a:bodyPr>
          <a:lstStyle/>
          <a:p>
            <a:r>
              <a:rPr lang="en-US" dirty="0"/>
              <a:t>&lt;?</a:t>
            </a:r>
            <a:r>
              <a:rPr lang="en-US" dirty="0" err="1"/>
              <a:t>php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// Parent class</a:t>
            </a:r>
          </a:p>
          <a:p>
            <a:pPr marL="0" indent="0">
              <a:buNone/>
            </a:pPr>
            <a:r>
              <a:rPr lang="en-US" dirty="0"/>
              <a:t>class Vehicle {</a:t>
            </a:r>
          </a:p>
          <a:p>
            <a:pPr marL="0" indent="0">
              <a:buNone/>
            </a:pPr>
            <a:r>
              <a:rPr lang="en-US" dirty="0"/>
              <a:t>    public $brand;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   public function start() {</a:t>
            </a:r>
          </a:p>
          <a:p>
            <a:pPr marL="0" indent="0">
              <a:buNone/>
            </a:pPr>
            <a:r>
              <a:rPr lang="en-US" dirty="0"/>
              <a:t>        echo "Vehicle is starting&lt;</a:t>
            </a:r>
            <a:r>
              <a:rPr lang="en-US" dirty="0" err="1"/>
              <a:t>br</a:t>
            </a:r>
            <a:r>
              <a:rPr lang="en-US" dirty="0"/>
              <a:t>&gt;";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// Child class</a:t>
            </a:r>
          </a:p>
          <a:p>
            <a:pPr marL="0" indent="0">
              <a:buNone/>
            </a:pPr>
            <a:r>
              <a:rPr lang="en-US" dirty="0"/>
              <a:t>class Car extends Vehicle {</a:t>
            </a:r>
          </a:p>
          <a:p>
            <a:pPr marL="0" indent="0">
              <a:buNone/>
            </a:pPr>
            <a:r>
              <a:rPr lang="en-US" dirty="0"/>
              <a:t>    public function drive() {</a:t>
            </a:r>
          </a:p>
          <a:p>
            <a:pPr marL="0" indent="0">
              <a:buNone/>
            </a:pPr>
            <a:r>
              <a:rPr lang="en-US" dirty="0"/>
              <a:t>        echo "Car is driving&lt;</a:t>
            </a:r>
            <a:r>
              <a:rPr lang="en-US" dirty="0" err="1"/>
              <a:t>br</a:t>
            </a:r>
            <a:r>
              <a:rPr lang="en-US" dirty="0"/>
              <a:t>&gt;";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// Object of child class</a:t>
            </a:r>
          </a:p>
          <a:p>
            <a:pPr marL="0" indent="0">
              <a:buNone/>
            </a:pPr>
            <a:r>
              <a:rPr lang="en-US" dirty="0"/>
              <a:t>$car = new Car();</a:t>
            </a:r>
          </a:p>
          <a:p>
            <a:pPr marL="0" indent="0">
              <a:buNone/>
            </a:pPr>
            <a:r>
              <a:rPr lang="en-US" dirty="0"/>
              <a:t>$car-&gt;brand = "BMW";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// Accessing parent &amp; child methods</a:t>
            </a:r>
          </a:p>
          <a:p>
            <a:pPr marL="0" indent="0">
              <a:buNone/>
            </a:pPr>
            <a:r>
              <a:rPr lang="en-US" dirty="0"/>
              <a:t>echo "Brand: " . $car-&gt;brand . "&lt;</a:t>
            </a:r>
            <a:r>
              <a:rPr lang="en-US" dirty="0" err="1"/>
              <a:t>br</a:t>
            </a:r>
            <a:r>
              <a:rPr lang="en-US" dirty="0"/>
              <a:t>&gt;";</a:t>
            </a:r>
          </a:p>
          <a:p>
            <a:pPr marL="0" indent="0">
              <a:buNone/>
            </a:pPr>
            <a:r>
              <a:rPr lang="en-US" dirty="0"/>
              <a:t>$car-&gt;start();</a:t>
            </a:r>
          </a:p>
          <a:p>
            <a:pPr marL="0" indent="0">
              <a:buNone/>
            </a:pPr>
            <a:r>
              <a:rPr lang="en-US" dirty="0"/>
              <a:t>$car-&gt;drive();</a:t>
            </a:r>
          </a:p>
          <a:p>
            <a:pPr marL="0" indent="0">
              <a:buNone/>
            </a:pPr>
            <a:r>
              <a:rPr lang="en-US" dirty="0"/>
              <a:t>?&gt;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3427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66A3B-B08E-7D66-BD74-EBB33BCF4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728" y="274638"/>
            <a:ext cx="7733071" cy="177646"/>
          </a:xfrm>
        </p:spPr>
        <p:txBody>
          <a:bodyPr>
            <a:normAutofit fontScale="90000"/>
          </a:bodyPr>
          <a:lstStyle/>
          <a:p>
            <a:r>
              <a:rPr lang="en-IN" dirty="0"/>
              <a:t>Inheritance with constructor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A96E6-1848-9035-B529-B0DEC5CEDD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477" y="688258"/>
            <a:ext cx="8480323" cy="5437905"/>
          </a:xfrm>
        </p:spPr>
        <p:txBody>
          <a:bodyPr>
            <a:normAutofit fontScale="47500" lnSpcReduction="20000"/>
          </a:bodyPr>
          <a:lstStyle/>
          <a:p>
            <a:r>
              <a:rPr lang="en-IN" dirty="0"/>
              <a:t>&lt;?</a:t>
            </a:r>
            <a:r>
              <a:rPr lang="en-IN" dirty="0" err="1"/>
              <a:t>php</a:t>
            </a:r>
            <a:endParaRPr lang="en-IN" dirty="0"/>
          </a:p>
          <a:p>
            <a:r>
              <a:rPr lang="en-IN" dirty="0"/>
              <a:t>class Person {</a:t>
            </a:r>
          </a:p>
          <a:p>
            <a:r>
              <a:rPr lang="en-IN" dirty="0"/>
              <a:t>    public $name;</a:t>
            </a:r>
          </a:p>
          <a:p>
            <a:endParaRPr lang="en-IN" dirty="0"/>
          </a:p>
          <a:p>
            <a:r>
              <a:rPr lang="en-IN" dirty="0"/>
              <a:t>    public function __construct($name) {</a:t>
            </a:r>
          </a:p>
          <a:p>
            <a:r>
              <a:rPr lang="en-IN" dirty="0"/>
              <a:t>        $this-&gt;name = $name;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class Student extends Person {</a:t>
            </a:r>
          </a:p>
          <a:p>
            <a:r>
              <a:rPr lang="en-IN" dirty="0"/>
              <a:t>    public $course;</a:t>
            </a:r>
          </a:p>
          <a:p>
            <a:endParaRPr lang="en-IN" dirty="0"/>
          </a:p>
          <a:p>
            <a:r>
              <a:rPr lang="en-IN" dirty="0"/>
              <a:t>    public function __construct($name, $course) {</a:t>
            </a:r>
          </a:p>
          <a:p>
            <a:r>
              <a:rPr lang="en-IN" dirty="0"/>
              <a:t>        parent::__construct($name);</a:t>
            </a:r>
          </a:p>
          <a:p>
            <a:r>
              <a:rPr lang="en-IN" dirty="0"/>
              <a:t>        $this-&gt;course = $course;</a:t>
            </a:r>
          </a:p>
          <a:p>
            <a:r>
              <a:rPr lang="en-IN" dirty="0"/>
              <a:t>    }</a:t>
            </a:r>
          </a:p>
          <a:p>
            <a:endParaRPr lang="en-IN" dirty="0"/>
          </a:p>
          <a:p>
            <a:r>
              <a:rPr lang="en-IN" dirty="0"/>
              <a:t>    public function </a:t>
            </a:r>
            <a:r>
              <a:rPr lang="en-IN" dirty="0" err="1"/>
              <a:t>showDetails</a:t>
            </a:r>
            <a:r>
              <a:rPr lang="en-IN" dirty="0"/>
              <a:t>() {</a:t>
            </a:r>
          </a:p>
          <a:p>
            <a:r>
              <a:rPr lang="en-IN" dirty="0"/>
              <a:t>        echo "Name: $this-&gt;name, Course: $this-&gt;course";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$student = new Student("Faizan", "PHP");</a:t>
            </a:r>
          </a:p>
          <a:p>
            <a:r>
              <a:rPr lang="en-IN" dirty="0"/>
              <a:t>$student-&gt;</a:t>
            </a:r>
            <a:r>
              <a:rPr lang="en-IN" dirty="0" err="1"/>
              <a:t>showDetails</a:t>
            </a:r>
            <a:r>
              <a:rPr lang="en-IN" dirty="0"/>
              <a:t>();</a:t>
            </a:r>
          </a:p>
          <a:p>
            <a:r>
              <a:rPr lang="en-IN" dirty="0"/>
              <a:t>?&gt;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14643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5844" y="365126"/>
            <a:ext cx="7099505" cy="45719"/>
          </a:xfrm>
        </p:spPr>
        <p:txBody>
          <a:bodyPr>
            <a:normAutofit fontScale="90000"/>
          </a:bodyPr>
          <a:lstStyle/>
          <a:p>
            <a:r>
              <a:rPr dirty="0"/>
              <a:t>Method Overloading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7484" y="855406"/>
            <a:ext cx="8367866" cy="5321557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PHP does not support traditional method overloading.</a:t>
            </a:r>
          </a:p>
          <a:p>
            <a:r>
              <a:rPr dirty="0"/>
              <a:t>Implemented using magic method __call().</a:t>
            </a:r>
            <a:endParaRPr lang="en-US" dirty="0"/>
          </a:p>
          <a:p>
            <a:r>
              <a:rPr lang="en-US" b="1" dirty="0"/>
              <a:t>1️⃣ Method Overloading Using __call()</a:t>
            </a:r>
          </a:p>
          <a:p>
            <a:r>
              <a:rPr lang="en-US" dirty="0"/>
              <a:t>Triggered when an </a:t>
            </a:r>
            <a:r>
              <a:rPr lang="en-US" b="1" dirty="0"/>
              <a:t>undefined or inaccessible method</a:t>
            </a:r>
            <a:r>
              <a:rPr lang="en-US" dirty="0"/>
              <a:t> is called</a:t>
            </a:r>
          </a:p>
          <a:p>
            <a:r>
              <a:rPr lang="en-US" dirty="0"/>
              <a:t>Allows handling multiple method calls dynamically</a:t>
            </a:r>
          </a:p>
          <a:p>
            <a:r>
              <a:rPr lang="en-US" b="1" dirty="0"/>
              <a:t>Key Benefit:</a:t>
            </a:r>
            <a:br>
              <a:rPr lang="en-US" dirty="0"/>
            </a:br>
            <a:r>
              <a:rPr lang="en-US" dirty="0"/>
              <a:t>Simulates multiple behaviors using one method name.</a:t>
            </a:r>
          </a:p>
          <a:p>
            <a:r>
              <a:rPr lang="en-US" b="1" dirty="0"/>
              <a:t>2️⃣ Method Overloading Using __</a:t>
            </a:r>
            <a:r>
              <a:rPr lang="en-US" b="1" dirty="0" err="1"/>
              <a:t>callStatic</a:t>
            </a:r>
            <a:r>
              <a:rPr lang="en-US" b="1" dirty="0"/>
              <a:t>()</a:t>
            </a:r>
          </a:p>
          <a:p>
            <a:r>
              <a:rPr lang="en-US" dirty="0"/>
              <a:t>Used for </a:t>
            </a:r>
            <a:r>
              <a:rPr lang="en-US" b="1" dirty="0"/>
              <a:t>static methods</a:t>
            </a:r>
            <a:endParaRPr lang="en-US" dirty="0"/>
          </a:p>
          <a:p>
            <a:r>
              <a:rPr lang="en-US" dirty="0"/>
              <a:t>Works the same way as __call() but for static context</a:t>
            </a:r>
          </a:p>
          <a:p>
            <a:r>
              <a:rPr lang="en-US" b="1" dirty="0"/>
              <a:t>3️⃣ Method Overloading Using Default Arguments</a:t>
            </a:r>
          </a:p>
          <a:p>
            <a:r>
              <a:rPr lang="en-US" dirty="0"/>
              <a:t>Same method name with optional parameters</a:t>
            </a:r>
          </a:p>
          <a:p>
            <a:r>
              <a:rPr lang="en-US" dirty="0"/>
              <a:t>Behavior changes based on arguments passed</a:t>
            </a:r>
          </a:p>
          <a:p>
            <a:r>
              <a:rPr lang="en-US" b="1" dirty="0"/>
              <a:t>4️⃣ Method Overloading Using Variable Arguments</a:t>
            </a:r>
          </a:p>
          <a:p>
            <a:r>
              <a:rPr lang="en-US" dirty="0"/>
              <a:t>Uses </a:t>
            </a:r>
            <a:r>
              <a:rPr lang="en-US" dirty="0" err="1"/>
              <a:t>func_get_args</a:t>
            </a:r>
            <a:r>
              <a:rPr lang="en-US" dirty="0"/>
              <a:t>() or ...$</a:t>
            </a:r>
            <a:r>
              <a:rPr lang="en-US" dirty="0" err="1"/>
              <a:t>args</a:t>
            </a:r>
            <a:endParaRPr lang="en-US" dirty="0"/>
          </a:p>
          <a:p>
            <a:r>
              <a:rPr lang="en-US" dirty="0"/>
              <a:t>Handles different number of parameters dynamically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D034D-D3A5-3089-5855-7098F152B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57199"/>
          </a:xfrm>
        </p:spPr>
        <p:txBody>
          <a:bodyPr>
            <a:normAutofit fontScale="90000"/>
          </a:bodyPr>
          <a:lstStyle/>
          <a:p>
            <a:r>
              <a:rPr lang="en-IN" dirty="0"/>
              <a:t>Here is simple example code of method </a:t>
            </a:r>
            <a:r>
              <a:rPr lang="en-IN" dirty="0" err="1"/>
              <a:t>overloadnig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51A76-A43E-3D74-346E-9A2A6536B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477" y="1130710"/>
            <a:ext cx="8480323" cy="4995453"/>
          </a:xfrm>
        </p:spPr>
        <p:txBody>
          <a:bodyPr>
            <a:normAutofit/>
          </a:bodyPr>
          <a:lstStyle/>
          <a:p>
            <a:r>
              <a:rPr lang="en-US" dirty="0"/>
              <a:t>&lt;?</a:t>
            </a:r>
            <a:r>
              <a:rPr lang="en-US" dirty="0" err="1"/>
              <a:t>php</a:t>
            </a:r>
            <a:endParaRPr lang="en-US" dirty="0"/>
          </a:p>
          <a:p>
            <a:r>
              <a:rPr lang="en-US" dirty="0"/>
              <a:t>class Demo {</a:t>
            </a:r>
          </a:p>
          <a:p>
            <a:r>
              <a:rPr lang="en-US" dirty="0"/>
              <a:t>    public function __call($name, $params) {</a:t>
            </a:r>
          </a:p>
          <a:p>
            <a:r>
              <a:rPr lang="en-US" dirty="0"/>
              <a:t>        echo "Method: $name&lt;</a:t>
            </a:r>
            <a:r>
              <a:rPr lang="en-US" dirty="0" err="1"/>
              <a:t>br</a:t>
            </a:r>
            <a:r>
              <a:rPr lang="en-US" dirty="0"/>
              <a:t>&gt;";</a:t>
            </a:r>
          </a:p>
          <a:p>
            <a:r>
              <a:rPr lang="en-US" dirty="0"/>
              <a:t>        echo "Parameters: " . implode(", ", $params);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$d = new Demo();</a:t>
            </a:r>
          </a:p>
          <a:p>
            <a:r>
              <a:rPr lang="en-US" dirty="0"/>
              <a:t>$d-&gt;test(10, 20, 30);</a:t>
            </a:r>
          </a:p>
          <a:p>
            <a:r>
              <a:rPr lang="en-US" dirty="0"/>
              <a:t>?&gt;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70629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Abstraction &amp;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Abstraction hides implementation details.</a:t>
            </a:r>
          </a:p>
          <a:p>
            <a:r>
              <a:rPr dirty="0"/>
              <a:t>Interface defines method signatures that must be </a:t>
            </a:r>
            <a:r>
              <a:rPr lang="en-IN" dirty="0"/>
              <a:t>I</a:t>
            </a:r>
            <a:r>
              <a:rPr dirty="0" err="1"/>
              <a:t>mplemented</a:t>
            </a:r>
            <a:r>
              <a:rPr dirty="0"/>
              <a:t>.</a:t>
            </a:r>
            <a:endParaRPr lang="en-IN" dirty="0"/>
          </a:p>
          <a:p>
            <a:pPr marL="0" indent="0">
              <a:buNone/>
            </a:pP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40004DF-08B6-5700-E7C1-36707F0F3E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0266403"/>
              </p:ext>
            </p:extLst>
          </p:nvPr>
        </p:nvGraphicFramePr>
        <p:xfrm>
          <a:off x="304800" y="3500285"/>
          <a:ext cx="7659330" cy="2625880"/>
        </p:xfrm>
        <a:graphic>
          <a:graphicData uri="http://schemas.openxmlformats.org/drawingml/2006/table">
            <a:tbl>
              <a:tblPr/>
              <a:tblGrid>
                <a:gridCol w="3829665">
                  <a:extLst>
                    <a:ext uri="{9D8B030D-6E8A-4147-A177-3AD203B41FA5}">
                      <a16:colId xmlns:a16="http://schemas.microsoft.com/office/drawing/2014/main" val="3480060099"/>
                    </a:ext>
                  </a:extLst>
                </a:gridCol>
                <a:gridCol w="3829665">
                  <a:extLst>
                    <a:ext uri="{9D8B030D-6E8A-4147-A177-3AD203B41FA5}">
                      <a16:colId xmlns:a16="http://schemas.microsoft.com/office/drawing/2014/main" val="1350402597"/>
                    </a:ext>
                  </a:extLst>
                </a:gridCol>
              </a:tblGrid>
              <a:tr h="525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Abstract Class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Interface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8321696"/>
                  </a:ext>
                </a:extLst>
              </a:tr>
              <a:tr h="525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Can have normal methods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Only abstract methods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1788570"/>
                  </a:ext>
                </a:extLst>
              </a:tr>
              <a:tr h="525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Can have properties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 properties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0851662"/>
                  </a:ext>
                </a:extLst>
              </a:tr>
              <a:tr h="525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extends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implements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6258400"/>
                  </a:ext>
                </a:extLst>
              </a:tr>
              <a:tr h="525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Single inheritance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Multiple interfaces allowed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14022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FFB38-579D-A5C9-ED6C-180016EE4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8" y="274638"/>
            <a:ext cx="8037871" cy="457199"/>
          </a:xfrm>
        </p:spPr>
        <p:txBody>
          <a:bodyPr>
            <a:normAutofit fontScale="90000"/>
          </a:bodyPr>
          <a:lstStyle/>
          <a:p>
            <a:r>
              <a:rPr lang="en-IN" dirty="0"/>
              <a:t>Example code of abstract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8A4ED8-3734-A86B-8629-5A714AC979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813" y="1042220"/>
            <a:ext cx="8499987" cy="5447070"/>
          </a:xfrm>
        </p:spPr>
        <p:txBody>
          <a:bodyPr>
            <a:normAutofit fontScale="47500" lnSpcReduction="20000"/>
          </a:bodyPr>
          <a:lstStyle/>
          <a:p>
            <a:r>
              <a:rPr lang="en-IN" dirty="0"/>
              <a:t>&lt;?</a:t>
            </a:r>
            <a:r>
              <a:rPr lang="en-IN" dirty="0" err="1"/>
              <a:t>php</a:t>
            </a:r>
            <a:endParaRPr lang="en-IN" dirty="0"/>
          </a:p>
          <a:p>
            <a:r>
              <a:rPr lang="en-IN" dirty="0"/>
              <a:t>// Abstract class</a:t>
            </a:r>
          </a:p>
          <a:p>
            <a:r>
              <a:rPr lang="en-IN" dirty="0"/>
              <a:t>abstract class Vehicle {</a:t>
            </a:r>
          </a:p>
          <a:p>
            <a:endParaRPr lang="en-IN" dirty="0"/>
          </a:p>
          <a:p>
            <a:r>
              <a:rPr lang="en-IN" dirty="0"/>
              <a:t>    // Abstract method (no body)</a:t>
            </a:r>
          </a:p>
          <a:p>
            <a:r>
              <a:rPr lang="en-IN" dirty="0"/>
              <a:t>    abstract public function start();</a:t>
            </a:r>
          </a:p>
          <a:p>
            <a:endParaRPr lang="en-IN" dirty="0"/>
          </a:p>
          <a:p>
            <a:r>
              <a:rPr lang="en-IN" dirty="0"/>
              <a:t>    // Normal method</a:t>
            </a:r>
          </a:p>
          <a:p>
            <a:r>
              <a:rPr lang="en-IN" dirty="0"/>
              <a:t>    public function fuel() {</a:t>
            </a:r>
          </a:p>
          <a:p>
            <a:r>
              <a:rPr lang="en-IN" dirty="0"/>
              <a:t>        echo "Vehicle uses fuel&lt;</a:t>
            </a:r>
            <a:r>
              <a:rPr lang="en-IN" dirty="0" err="1"/>
              <a:t>br</a:t>
            </a:r>
            <a:r>
              <a:rPr lang="en-IN" dirty="0"/>
              <a:t>&gt;";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// Child class</a:t>
            </a:r>
          </a:p>
          <a:p>
            <a:r>
              <a:rPr lang="en-IN" dirty="0"/>
              <a:t>class Car extends Vehicle {</a:t>
            </a:r>
          </a:p>
          <a:p>
            <a:endParaRPr lang="en-IN" dirty="0"/>
          </a:p>
          <a:p>
            <a:r>
              <a:rPr lang="en-IN" dirty="0"/>
              <a:t>    public function start() {</a:t>
            </a:r>
          </a:p>
          <a:p>
            <a:r>
              <a:rPr lang="en-IN" dirty="0"/>
              <a:t>        echo "Car starts with key&lt;</a:t>
            </a:r>
            <a:r>
              <a:rPr lang="en-IN" dirty="0" err="1"/>
              <a:t>br</a:t>
            </a:r>
            <a:r>
              <a:rPr lang="en-IN" dirty="0"/>
              <a:t>&gt;";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// Object creation</a:t>
            </a:r>
          </a:p>
          <a:p>
            <a:r>
              <a:rPr lang="en-IN" dirty="0"/>
              <a:t>$car = new Car();</a:t>
            </a:r>
          </a:p>
          <a:p>
            <a:r>
              <a:rPr lang="en-IN" dirty="0"/>
              <a:t>$car-&gt;start();</a:t>
            </a:r>
          </a:p>
          <a:p>
            <a:r>
              <a:rPr lang="en-IN" dirty="0"/>
              <a:t>$car-&gt;fuel();</a:t>
            </a:r>
          </a:p>
          <a:p>
            <a:r>
              <a:rPr lang="en-IN" dirty="0"/>
              <a:t>?&gt;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92993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A9A19-9E37-59F0-7B8A-7533A21A6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87" y="274638"/>
            <a:ext cx="8568813" cy="45719"/>
          </a:xfrm>
        </p:spPr>
        <p:txBody>
          <a:bodyPr>
            <a:normAutofit fontScale="90000"/>
          </a:bodyPr>
          <a:lstStyle/>
          <a:p>
            <a:r>
              <a:rPr lang="en-IN" dirty="0"/>
              <a:t>Example code of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A40B9-B689-0F24-6C21-907AF89DF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310" y="816077"/>
            <a:ext cx="8470490" cy="5850193"/>
          </a:xfrm>
        </p:spPr>
        <p:txBody>
          <a:bodyPr>
            <a:normAutofit fontScale="47500" lnSpcReduction="20000"/>
          </a:bodyPr>
          <a:lstStyle/>
          <a:p>
            <a:r>
              <a:rPr lang="en-IN" dirty="0"/>
              <a:t>&lt;?</a:t>
            </a:r>
            <a:r>
              <a:rPr lang="en-IN" dirty="0" err="1"/>
              <a:t>php</a:t>
            </a:r>
            <a:endParaRPr lang="en-IN" dirty="0"/>
          </a:p>
          <a:p>
            <a:r>
              <a:rPr lang="en-IN" dirty="0"/>
              <a:t>// Interface</a:t>
            </a:r>
          </a:p>
          <a:p>
            <a:r>
              <a:rPr lang="en-IN" dirty="0"/>
              <a:t>interface Animal {</a:t>
            </a:r>
          </a:p>
          <a:p>
            <a:r>
              <a:rPr lang="en-IN" dirty="0"/>
              <a:t>    public function sound();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// Implementing interface</a:t>
            </a:r>
          </a:p>
          <a:p>
            <a:r>
              <a:rPr lang="en-IN" dirty="0"/>
              <a:t>class Dog implements Animal {</a:t>
            </a:r>
          </a:p>
          <a:p>
            <a:r>
              <a:rPr lang="en-IN" dirty="0"/>
              <a:t>    public function sound() {</a:t>
            </a:r>
          </a:p>
          <a:p>
            <a:r>
              <a:rPr lang="en-IN" dirty="0"/>
              <a:t>        echo "Dog barks&lt;</a:t>
            </a:r>
            <a:r>
              <a:rPr lang="en-IN" dirty="0" err="1"/>
              <a:t>br</a:t>
            </a:r>
            <a:r>
              <a:rPr lang="en-IN" dirty="0"/>
              <a:t>&gt;";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class Cat implements Animal {</a:t>
            </a:r>
          </a:p>
          <a:p>
            <a:r>
              <a:rPr lang="en-IN" dirty="0"/>
              <a:t>    public function sound() {</a:t>
            </a:r>
          </a:p>
          <a:p>
            <a:r>
              <a:rPr lang="en-IN" dirty="0"/>
              <a:t>        echo "Cat meows&lt;</a:t>
            </a:r>
            <a:r>
              <a:rPr lang="en-IN" dirty="0" err="1"/>
              <a:t>br</a:t>
            </a:r>
            <a:r>
              <a:rPr lang="en-IN" dirty="0"/>
              <a:t>&gt;";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// Objects</a:t>
            </a:r>
          </a:p>
          <a:p>
            <a:r>
              <a:rPr lang="en-IN" dirty="0"/>
              <a:t>$dog = new Dog();</a:t>
            </a:r>
          </a:p>
          <a:p>
            <a:r>
              <a:rPr lang="en-IN" dirty="0"/>
              <a:t>$dog-&gt;sound();</a:t>
            </a:r>
          </a:p>
          <a:p>
            <a:endParaRPr lang="en-IN" dirty="0"/>
          </a:p>
          <a:p>
            <a:r>
              <a:rPr lang="en-IN" dirty="0"/>
              <a:t>$cat = new Cat();</a:t>
            </a:r>
          </a:p>
          <a:p>
            <a:r>
              <a:rPr lang="en-IN" dirty="0"/>
              <a:t>$cat-&gt;sound();</a:t>
            </a:r>
          </a:p>
          <a:p>
            <a:r>
              <a:rPr lang="en-IN" dirty="0"/>
              <a:t>?&gt;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4266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3F147-2C16-D61E-C9C9-C19C7AEE7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Example code of combined(</a:t>
            </a:r>
            <a:r>
              <a:rPr lang="en-IN" dirty="0" err="1"/>
              <a:t>abstract+interface</a:t>
            </a:r>
            <a:r>
              <a:rPr lang="en-IN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D5223-780E-A336-4678-5733A10B8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IN" dirty="0"/>
              <a:t>&lt;?</a:t>
            </a:r>
            <a:r>
              <a:rPr lang="en-IN" dirty="0" err="1"/>
              <a:t>php</a:t>
            </a:r>
            <a:endParaRPr lang="en-IN" dirty="0"/>
          </a:p>
          <a:p>
            <a:r>
              <a:rPr lang="en-IN" dirty="0"/>
              <a:t>interface Payment {</a:t>
            </a:r>
          </a:p>
          <a:p>
            <a:r>
              <a:rPr lang="en-IN" dirty="0"/>
              <a:t>    public function pay();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abstract class </a:t>
            </a:r>
            <a:r>
              <a:rPr lang="en-IN" dirty="0" err="1"/>
              <a:t>OnlinePayment</a:t>
            </a:r>
            <a:r>
              <a:rPr lang="en-IN" dirty="0"/>
              <a:t> {</a:t>
            </a:r>
          </a:p>
          <a:p>
            <a:r>
              <a:rPr lang="en-IN" dirty="0"/>
              <a:t>    public function message() {</a:t>
            </a:r>
          </a:p>
          <a:p>
            <a:r>
              <a:rPr lang="en-IN" dirty="0"/>
              <a:t>        echo "Processing payment...&lt;</a:t>
            </a:r>
            <a:r>
              <a:rPr lang="en-IN" dirty="0" err="1"/>
              <a:t>br</a:t>
            </a:r>
            <a:r>
              <a:rPr lang="en-IN" dirty="0"/>
              <a:t>&gt;";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class </a:t>
            </a:r>
            <a:r>
              <a:rPr lang="en-IN" dirty="0" err="1"/>
              <a:t>CreditCard</a:t>
            </a:r>
            <a:r>
              <a:rPr lang="en-IN" dirty="0"/>
              <a:t> extends </a:t>
            </a:r>
            <a:r>
              <a:rPr lang="en-IN" dirty="0" err="1"/>
              <a:t>OnlinePayment</a:t>
            </a:r>
            <a:r>
              <a:rPr lang="en-IN" dirty="0"/>
              <a:t> implements Payment {</a:t>
            </a:r>
          </a:p>
          <a:p>
            <a:r>
              <a:rPr lang="en-IN" dirty="0"/>
              <a:t>    public function pay() {</a:t>
            </a:r>
          </a:p>
          <a:p>
            <a:r>
              <a:rPr lang="en-IN" dirty="0"/>
              <a:t>        echo "Payment done using Credit Card&lt;</a:t>
            </a:r>
            <a:r>
              <a:rPr lang="en-IN" dirty="0" err="1"/>
              <a:t>br</a:t>
            </a:r>
            <a:r>
              <a:rPr lang="en-IN" dirty="0"/>
              <a:t>&gt;";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$payment = new </a:t>
            </a:r>
            <a:r>
              <a:rPr lang="en-IN" dirty="0" err="1"/>
              <a:t>CreditCard</a:t>
            </a:r>
            <a:r>
              <a:rPr lang="en-IN" dirty="0"/>
              <a:t>();</a:t>
            </a:r>
          </a:p>
          <a:p>
            <a:r>
              <a:rPr lang="en-IN" dirty="0"/>
              <a:t>$payment-&gt;message();</a:t>
            </a:r>
          </a:p>
          <a:p>
            <a:r>
              <a:rPr lang="en-IN" dirty="0"/>
              <a:t>$payment-&gt;pay();</a:t>
            </a:r>
          </a:p>
          <a:p>
            <a:r>
              <a:rPr lang="en-IN" dirty="0"/>
              <a:t>?&gt;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70029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3432" y="365127"/>
            <a:ext cx="6371918" cy="106822"/>
          </a:xfrm>
        </p:spPr>
        <p:txBody>
          <a:bodyPr>
            <a:normAutofit fontScale="90000"/>
          </a:bodyPr>
          <a:lstStyle/>
          <a:p>
            <a:r>
              <a:rPr dirty="0"/>
              <a:t>Constructor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39097"/>
            <a:ext cx="8515350" cy="5537866"/>
          </a:xfrm>
        </p:spPr>
        <p:txBody>
          <a:bodyPr/>
          <a:lstStyle/>
          <a:p>
            <a:r>
              <a:rPr dirty="0"/>
              <a:t>Constructor (__construct) initializes object properties automatically.</a:t>
            </a:r>
            <a:endParaRPr lang="en-US" dirty="0"/>
          </a:p>
          <a:p>
            <a:r>
              <a:rPr lang="en-US" b="1" dirty="0"/>
              <a:t>Purpose of Constructor</a:t>
            </a:r>
          </a:p>
          <a:p>
            <a:r>
              <a:rPr lang="en-US" b="1" dirty="0"/>
              <a:t>Initialize Object Properties</a:t>
            </a:r>
            <a:endParaRPr lang="en-US" dirty="0"/>
          </a:p>
          <a:p>
            <a:pPr lvl="1"/>
            <a:r>
              <a:rPr lang="en-US" dirty="0"/>
              <a:t>Assign initial values to class variables</a:t>
            </a:r>
          </a:p>
          <a:p>
            <a:r>
              <a:rPr lang="en-US" b="1" dirty="0"/>
              <a:t>Reduce Repetition</a:t>
            </a:r>
            <a:endParaRPr lang="en-US" dirty="0"/>
          </a:p>
          <a:p>
            <a:pPr lvl="1"/>
            <a:r>
              <a:rPr lang="en-US" dirty="0"/>
              <a:t>Avoids manual initialization after object creation</a:t>
            </a:r>
          </a:p>
          <a:p>
            <a:r>
              <a:rPr lang="en-US" b="1" dirty="0"/>
              <a:t>Ensure Object Readiness</a:t>
            </a:r>
            <a:endParaRPr lang="en-US" dirty="0"/>
          </a:p>
          <a:p>
            <a:pPr lvl="1"/>
            <a:r>
              <a:rPr lang="en-US" dirty="0"/>
              <a:t>Object is ready to use immediately after creation</a:t>
            </a:r>
          </a:p>
          <a:p>
            <a:r>
              <a:rPr lang="en-US" b="1" dirty="0"/>
              <a:t>Resource Setup</a:t>
            </a:r>
            <a:endParaRPr lang="en-US" dirty="0"/>
          </a:p>
          <a:p>
            <a:pPr lvl="1"/>
            <a:r>
              <a:rPr lang="en-US" dirty="0"/>
              <a:t>Open database connections, files, or sessions</a:t>
            </a:r>
          </a:p>
          <a:p>
            <a:r>
              <a:rPr lang="en-US" b="1" dirty="0"/>
              <a:t>Advantages of Constructor</a:t>
            </a:r>
          </a:p>
          <a:p>
            <a:r>
              <a:rPr lang="en-US" dirty="0"/>
              <a:t>Automatic execution</a:t>
            </a:r>
          </a:p>
          <a:p>
            <a:r>
              <a:rPr lang="en-US" dirty="0"/>
              <a:t>Improves code readability</a:t>
            </a:r>
          </a:p>
          <a:p>
            <a:r>
              <a:rPr lang="en-US" dirty="0"/>
              <a:t>Prevents uninitialized objects</a:t>
            </a:r>
          </a:p>
          <a:p>
            <a:r>
              <a:rPr lang="en-US" dirty="0"/>
              <a:t>Essential for dependency injection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7226" y="365127"/>
            <a:ext cx="6008124" cy="106822"/>
          </a:xfrm>
        </p:spPr>
        <p:txBody>
          <a:bodyPr>
            <a:normAutofit fontScale="90000"/>
          </a:bodyPr>
          <a:lstStyle/>
          <a:p>
            <a:r>
              <a:rPr dirty="0"/>
              <a:t>Destructor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148" y="619432"/>
            <a:ext cx="8348202" cy="5557531"/>
          </a:xfrm>
        </p:spPr>
        <p:txBody>
          <a:bodyPr/>
          <a:lstStyle/>
          <a:p>
            <a:r>
              <a:rPr dirty="0"/>
              <a:t>Destructor (__destruct) is called when an object is destroyed.</a:t>
            </a:r>
          </a:p>
          <a:p>
            <a:r>
              <a:rPr dirty="0"/>
              <a:t>Used for cleanup tasks.</a:t>
            </a:r>
            <a:endParaRPr lang="en-US" dirty="0"/>
          </a:p>
          <a:p>
            <a:r>
              <a:rPr lang="en-US" b="1" dirty="0"/>
              <a:t>Advantages of Destructor</a:t>
            </a:r>
          </a:p>
          <a:p>
            <a:r>
              <a:rPr lang="en-US" dirty="0"/>
              <a:t>Automatic cleanup</a:t>
            </a:r>
          </a:p>
          <a:p>
            <a:r>
              <a:rPr lang="en-US" dirty="0"/>
              <a:t>Prevents resource leaks</a:t>
            </a:r>
          </a:p>
          <a:p>
            <a:r>
              <a:rPr lang="en-US" dirty="0"/>
              <a:t>Improves application performance</a:t>
            </a:r>
          </a:p>
          <a:p>
            <a:r>
              <a:rPr lang="en-US" dirty="0"/>
              <a:t>Ensures proper resource handling</a:t>
            </a:r>
          </a:p>
          <a:p>
            <a:r>
              <a:rPr lang="en-US" b="1" dirty="0"/>
              <a:t>Limitations of Destructor</a:t>
            </a:r>
          </a:p>
          <a:p>
            <a:r>
              <a:rPr lang="en-US" dirty="0"/>
              <a:t>Execution time is unpredictable</a:t>
            </a:r>
          </a:p>
          <a:p>
            <a:r>
              <a:rPr lang="en-US" dirty="0"/>
              <a:t>Not suitable for critical logic</a:t>
            </a:r>
          </a:p>
          <a:p>
            <a:r>
              <a:rPr lang="en-US" dirty="0"/>
              <a:t>Cannot control exact execution moment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E899D-C55E-B136-E63F-F3F74D1A8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of </a:t>
            </a:r>
            <a:r>
              <a:rPr lang="en-IN" dirty="0" err="1"/>
              <a:t>destructure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4D258-498C-2C36-7A21-559C55940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&lt;?</a:t>
            </a:r>
            <a:r>
              <a:rPr lang="en-US" dirty="0" err="1"/>
              <a:t>php</a:t>
            </a:r>
            <a:endParaRPr lang="en-US" dirty="0"/>
          </a:p>
          <a:p>
            <a:r>
              <a:rPr lang="en-US" dirty="0"/>
              <a:t>class Test {</a:t>
            </a:r>
          </a:p>
          <a:p>
            <a:r>
              <a:rPr lang="en-US" dirty="0"/>
              <a:t>    public function __construct() {</a:t>
            </a:r>
          </a:p>
          <a:p>
            <a:r>
              <a:rPr lang="en-US" dirty="0"/>
              <a:t>        echo "Object Created&lt;</a:t>
            </a:r>
            <a:r>
              <a:rPr lang="en-US" dirty="0" err="1"/>
              <a:t>br</a:t>
            </a:r>
            <a:r>
              <a:rPr lang="en-US" dirty="0"/>
              <a:t>&gt;";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    public function __destruct() {</a:t>
            </a:r>
          </a:p>
          <a:p>
            <a:r>
              <a:rPr lang="en-US" dirty="0"/>
              <a:t>        echo "Object Destroyed";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$obj = new Test();</a:t>
            </a:r>
          </a:p>
          <a:p>
            <a:r>
              <a:rPr lang="en-US" dirty="0"/>
              <a:t>?&gt;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45137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670" y="365126"/>
            <a:ext cx="7030679" cy="315911"/>
          </a:xfrm>
        </p:spPr>
        <p:txBody>
          <a:bodyPr>
            <a:normAutofit fontScale="90000"/>
          </a:bodyPr>
          <a:lstStyle/>
          <a:p>
            <a:r>
              <a:rPr dirty="0"/>
              <a:t>Magic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658" y="796413"/>
            <a:ext cx="8436692" cy="5380550"/>
          </a:xfrm>
        </p:spPr>
        <p:txBody>
          <a:bodyPr/>
          <a:lstStyle/>
          <a:p>
            <a:r>
              <a:rPr dirty="0"/>
              <a:t>Magic methods start with __</a:t>
            </a:r>
          </a:p>
          <a:p>
            <a:endParaRPr dirty="0"/>
          </a:p>
          <a:p>
            <a:r>
              <a:rPr dirty="0"/>
              <a:t>Common magic methods:</a:t>
            </a:r>
          </a:p>
          <a:p>
            <a:r>
              <a:rPr dirty="0"/>
              <a:t>__construct(), __get(), __set()</a:t>
            </a:r>
            <a:endParaRPr lang="en-US" dirty="0"/>
          </a:p>
          <a:p>
            <a:r>
              <a:rPr lang="en-US" b="1" dirty="0"/>
              <a:t>Purpose of Magic Methods</a:t>
            </a:r>
          </a:p>
          <a:p>
            <a:r>
              <a:rPr lang="en-US" b="1" dirty="0"/>
              <a:t>Dynamic Behavior</a:t>
            </a:r>
            <a:endParaRPr lang="en-US" dirty="0"/>
          </a:p>
          <a:p>
            <a:pPr lvl="1"/>
            <a:r>
              <a:rPr lang="en-US" dirty="0"/>
              <a:t>Handle undefined or inaccessible properties and methods</a:t>
            </a:r>
          </a:p>
          <a:p>
            <a:r>
              <a:rPr lang="en-US" b="1" dirty="0"/>
              <a:t>Improve Flexibility</a:t>
            </a:r>
            <a:endParaRPr lang="en-US" dirty="0"/>
          </a:p>
          <a:p>
            <a:pPr lvl="1"/>
            <a:r>
              <a:rPr lang="en-US" dirty="0"/>
              <a:t>Enable dynamic property handling</a:t>
            </a:r>
          </a:p>
          <a:p>
            <a:r>
              <a:rPr lang="en-US" b="1" dirty="0"/>
              <a:t>Encapsulation Support</a:t>
            </a:r>
            <a:endParaRPr lang="en-US" dirty="0"/>
          </a:p>
          <a:p>
            <a:pPr lvl="1"/>
            <a:r>
              <a:rPr lang="en-US" dirty="0"/>
              <a:t>Control how data is accessed or modified</a:t>
            </a:r>
          </a:p>
          <a:p>
            <a:r>
              <a:rPr lang="en-US" b="1" dirty="0"/>
              <a:t>Code Simplification</a:t>
            </a:r>
            <a:endParaRPr lang="en-US" dirty="0"/>
          </a:p>
          <a:p>
            <a:pPr lvl="1"/>
            <a:r>
              <a:rPr lang="en-US" dirty="0"/>
              <a:t>Reduce repetitive getter and setter methods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A2D35-2DD0-7C67-DE25-613588004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Exapmle</a:t>
            </a:r>
            <a:r>
              <a:rPr lang="en-IN" dirty="0"/>
              <a:t> of magic </a:t>
            </a:r>
            <a:r>
              <a:rPr lang="en-IN" dirty="0" err="1"/>
              <a:t>methode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3E707-8917-6AEE-A8D8-B9DCFAE639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dirty="0"/>
              <a:t>&lt;?</a:t>
            </a:r>
            <a:r>
              <a:rPr lang="en-US" dirty="0" err="1"/>
              <a:t>php</a:t>
            </a:r>
            <a:endParaRPr lang="en-US" dirty="0"/>
          </a:p>
          <a:p>
            <a:r>
              <a:rPr lang="en-US" dirty="0"/>
              <a:t>class Student {</a:t>
            </a:r>
          </a:p>
          <a:p>
            <a:r>
              <a:rPr lang="en-US" dirty="0"/>
              <a:t>    private $data = [];</a:t>
            </a:r>
          </a:p>
          <a:p>
            <a:endParaRPr lang="en-US" dirty="0"/>
          </a:p>
          <a:p>
            <a:r>
              <a:rPr lang="en-US" dirty="0"/>
              <a:t>    // Called when setting undefined/private property</a:t>
            </a:r>
          </a:p>
          <a:p>
            <a:r>
              <a:rPr lang="en-US" dirty="0"/>
              <a:t>    public function __set($name, $value) {</a:t>
            </a:r>
          </a:p>
          <a:p>
            <a:r>
              <a:rPr lang="en-US" dirty="0"/>
              <a:t>        $this-&gt;data[$name] = $value;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    // Called when accessing undefined/private property</a:t>
            </a:r>
          </a:p>
          <a:p>
            <a:r>
              <a:rPr lang="en-US" dirty="0"/>
              <a:t>    public function __get($name) {</a:t>
            </a:r>
          </a:p>
          <a:p>
            <a:r>
              <a:rPr lang="en-US" dirty="0"/>
              <a:t>        return $this-&gt;data[$name];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$s = new Student();</a:t>
            </a:r>
          </a:p>
          <a:p>
            <a:r>
              <a:rPr lang="en-US" dirty="0"/>
              <a:t>$s-&gt;name = "Faizan";     // __set called</a:t>
            </a:r>
          </a:p>
          <a:p>
            <a:r>
              <a:rPr lang="en-US" dirty="0"/>
              <a:t>$s-&gt;age = 21;</a:t>
            </a:r>
          </a:p>
          <a:p>
            <a:endParaRPr lang="en-US" dirty="0"/>
          </a:p>
          <a:p>
            <a:r>
              <a:rPr lang="en-US" dirty="0"/>
              <a:t>echo $s-&gt;name . "&lt;</a:t>
            </a:r>
            <a:r>
              <a:rPr lang="en-US" dirty="0" err="1"/>
              <a:t>br</a:t>
            </a:r>
            <a:r>
              <a:rPr lang="en-US" dirty="0"/>
              <a:t>&gt;"; // __get called</a:t>
            </a:r>
          </a:p>
          <a:p>
            <a:r>
              <a:rPr lang="en-US" dirty="0"/>
              <a:t>echo $s-&gt;age;</a:t>
            </a:r>
          </a:p>
          <a:p>
            <a:r>
              <a:rPr lang="en-US" dirty="0"/>
              <a:t>?&gt;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91982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4334" y="365126"/>
            <a:ext cx="7011015" cy="205145"/>
          </a:xfrm>
        </p:spPr>
        <p:txBody>
          <a:bodyPr>
            <a:normAutofit fontScale="90000"/>
          </a:bodyPr>
          <a:lstStyle/>
          <a:p>
            <a:r>
              <a:rPr dirty="0"/>
              <a:t>Scope Resolution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6645" y="855406"/>
            <a:ext cx="8318705" cy="5321557"/>
          </a:xfrm>
        </p:spPr>
        <p:txBody>
          <a:bodyPr>
            <a:normAutofit fontScale="85000" lnSpcReduction="20000"/>
          </a:bodyPr>
          <a:lstStyle/>
          <a:p>
            <a:r>
              <a:rPr dirty="0"/>
              <a:t>The :: operator is used to access static properties and methods.</a:t>
            </a:r>
            <a:endParaRPr lang="en-US" dirty="0"/>
          </a:p>
          <a:p>
            <a:r>
              <a:rPr lang="en-US" b="1" dirty="0"/>
              <a:t>Purpose of Scope Resolution Operator</a:t>
            </a:r>
          </a:p>
          <a:p>
            <a:r>
              <a:rPr lang="en-US" b="1" dirty="0"/>
              <a:t>Access Static Members</a:t>
            </a:r>
            <a:endParaRPr lang="en-US" dirty="0"/>
          </a:p>
          <a:p>
            <a:pPr lvl="1"/>
            <a:r>
              <a:rPr lang="en-US" dirty="0"/>
              <a:t>Allows access to static properties and methods directly using the class name</a:t>
            </a:r>
          </a:p>
          <a:p>
            <a:r>
              <a:rPr lang="en-US" b="1" dirty="0"/>
              <a:t>Access Class Constants</a:t>
            </a:r>
            <a:endParaRPr lang="en-US" dirty="0"/>
          </a:p>
          <a:p>
            <a:pPr lvl="1"/>
            <a:r>
              <a:rPr lang="en-US" dirty="0"/>
              <a:t>Used to retrieve constant values defined in a class</a:t>
            </a:r>
          </a:p>
          <a:p>
            <a:r>
              <a:rPr lang="en-US" b="1" dirty="0"/>
              <a:t>Support Inheritance</a:t>
            </a:r>
            <a:endParaRPr lang="en-US" dirty="0"/>
          </a:p>
          <a:p>
            <a:pPr lvl="1"/>
            <a:r>
              <a:rPr lang="en-US" dirty="0"/>
              <a:t>Access parent class methods using parent::</a:t>
            </a:r>
          </a:p>
          <a:p>
            <a:r>
              <a:rPr lang="en-US" b="1" dirty="0"/>
              <a:t>Method Overriding</a:t>
            </a:r>
            <a:endParaRPr lang="en-US" dirty="0"/>
          </a:p>
          <a:p>
            <a:pPr lvl="1"/>
            <a:r>
              <a:rPr lang="en-US" dirty="0"/>
              <a:t>Call overridden parent methods</a:t>
            </a:r>
          </a:p>
          <a:p>
            <a:r>
              <a:rPr lang="en-US" b="1" dirty="0"/>
              <a:t>Advantages</a:t>
            </a:r>
          </a:p>
          <a:p>
            <a:r>
              <a:rPr lang="en-US" dirty="0"/>
              <a:t>No need to create object</a:t>
            </a:r>
          </a:p>
          <a:p>
            <a:r>
              <a:rPr lang="en-US" dirty="0"/>
              <a:t>Improves performance</a:t>
            </a:r>
          </a:p>
          <a:p>
            <a:r>
              <a:rPr lang="en-US" dirty="0"/>
              <a:t>Useful for utility and helper methods</a:t>
            </a:r>
          </a:p>
          <a:p>
            <a:r>
              <a:rPr lang="en-US" dirty="0"/>
              <a:t>Enhances code clarity</a:t>
            </a:r>
          </a:p>
          <a:p>
            <a:r>
              <a:rPr lang="en-US" b="1" dirty="0"/>
              <a:t>Limitations</a:t>
            </a:r>
          </a:p>
          <a:p>
            <a:r>
              <a:rPr lang="en-US" dirty="0"/>
              <a:t>Cannot access non-static properties directly</a:t>
            </a:r>
          </a:p>
          <a:p>
            <a:r>
              <a:rPr lang="en-US" dirty="0"/>
              <a:t>Overuse of static members reduces flexibility</a:t>
            </a:r>
          </a:p>
          <a:p>
            <a:r>
              <a:rPr lang="en-US" dirty="0"/>
              <a:t>Not suitable for object-specific data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A7EDA-DA75-143C-80D3-CB1FCBF58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6995652" cy="45719"/>
          </a:xfrm>
        </p:spPr>
        <p:txBody>
          <a:bodyPr>
            <a:normAutofit fontScale="90000"/>
          </a:bodyPr>
          <a:lstStyle/>
          <a:p>
            <a:r>
              <a:rPr lang="en-IN" dirty="0"/>
              <a:t>Example of scope resolution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6843B-0934-B13A-406C-BD25851C8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723" y="744794"/>
            <a:ext cx="8229600" cy="4957916"/>
          </a:xfrm>
        </p:spPr>
        <p:txBody>
          <a:bodyPr>
            <a:normAutofit/>
          </a:bodyPr>
          <a:lstStyle/>
          <a:p>
            <a:r>
              <a:rPr lang="en-US" dirty="0"/>
              <a:t>Example 1: Access Static Property using ::</a:t>
            </a:r>
          </a:p>
          <a:p>
            <a:r>
              <a:rPr lang="en-US" dirty="0"/>
              <a:t>&lt;?</a:t>
            </a:r>
            <a:r>
              <a:rPr lang="en-US" dirty="0" err="1"/>
              <a:t>php</a:t>
            </a:r>
            <a:endParaRPr lang="en-US" dirty="0"/>
          </a:p>
          <a:p>
            <a:r>
              <a:rPr lang="en-US" dirty="0"/>
              <a:t>class Counter {</a:t>
            </a:r>
          </a:p>
          <a:p>
            <a:r>
              <a:rPr lang="en-US" dirty="0"/>
              <a:t>    public static $count = 0;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// Accessing static property</a:t>
            </a:r>
          </a:p>
          <a:p>
            <a:r>
              <a:rPr lang="en-US" dirty="0"/>
              <a:t>echo Counter::$count;</a:t>
            </a:r>
          </a:p>
          <a:p>
            <a:r>
              <a:rPr lang="en-US" dirty="0"/>
              <a:t>?&gt;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19190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00748" y="365126"/>
            <a:ext cx="6214602" cy="45719"/>
          </a:xfrm>
        </p:spPr>
        <p:txBody>
          <a:bodyPr>
            <a:normAutofit fontScale="90000"/>
          </a:bodyPr>
          <a:lstStyle/>
          <a:p>
            <a:r>
              <a:rPr dirty="0"/>
              <a:t>Traits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490" y="639097"/>
            <a:ext cx="8426860" cy="5537866"/>
          </a:xfrm>
        </p:spPr>
        <p:txBody>
          <a:bodyPr>
            <a:normAutofit fontScale="85000" lnSpcReduction="20000"/>
          </a:bodyPr>
          <a:lstStyle/>
          <a:p>
            <a:r>
              <a:rPr dirty="0"/>
              <a:t>Traits are used for code reusability.</a:t>
            </a:r>
          </a:p>
          <a:p>
            <a:r>
              <a:rPr dirty="0"/>
              <a:t>A class can use multiple traits.</a:t>
            </a:r>
            <a:endParaRPr lang="en-US" dirty="0"/>
          </a:p>
          <a:p>
            <a:r>
              <a:rPr lang="en-US" b="1" dirty="0"/>
              <a:t>Purpose of Traits</a:t>
            </a:r>
          </a:p>
          <a:p>
            <a:r>
              <a:rPr lang="en-US" b="1" dirty="0"/>
              <a:t>Code Reusability</a:t>
            </a:r>
            <a:endParaRPr lang="en-US" dirty="0"/>
          </a:p>
          <a:p>
            <a:pPr lvl="1"/>
            <a:r>
              <a:rPr lang="en-US" dirty="0"/>
              <a:t>Share common methods across multiple classes</a:t>
            </a:r>
          </a:p>
          <a:p>
            <a:r>
              <a:rPr lang="en-US" b="1" dirty="0"/>
              <a:t>Avoid Code Duplication</a:t>
            </a:r>
            <a:endParaRPr lang="en-US" dirty="0"/>
          </a:p>
          <a:p>
            <a:pPr lvl="1"/>
            <a:r>
              <a:rPr lang="en-US" dirty="0"/>
              <a:t>Write common functionality once</a:t>
            </a:r>
          </a:p>
          <a:p>
            <a:r>
              <a:rPr lang="en-US" b="1" dirty="0"/>
              <a:t>Support Multiple Behaviors</a:t>
            </a:r>
            <a:endParaRPr lang="en-US" dirty="0"/>
          </a:p>
          <a:p>
            <a:pPr lvl="1"/>
            <a:r>
              <a:rPr lang="en-US" dirty="0"/>
              <a:t>Simulates multiple inheritance</a:t>
            </a:r>
          </a:p>
          <a:p>
            <a:r>
              <a:rPr lang="en-US" b="1" dirty="0"/>
              <a:t>Cleaner Class Design</a:t>
            </a:r>
            <a:endParaRPr lang="en-US" dirty="0"/>
          </a:p>
          <a:p>
            <a:pPr lvl="1"/>
            <a:r>
              <a:rPr lang="en-US" dirty="0"/>
              <a:t>Keeps classes focused on their main responsibility</a:t>
            </a:r>
          </a:p>
          <a:p>
            <a:r>
              <a:rPr lang="en-US" b="1" dirty="0"/>
              <a:t>Key Features of Traits</a:t>
            </a:r>
          </a:p>
          <a:p>
            <a:r>
              <a:rPr lang="en-US" dirty="0"/>
              <a:t>Traits are </a:t>
            </a:r>
            <a:r>
              <a:rPr lang="en-US" b="1" dirty="0"/>
              <a:t>not classes</a:t>
            </a:r>
            <a:endParaRPr lang="en-US" dirty="0"/>
          </a:p>
          <a:p>
            <a:r>
              <a:rPr lang="en-US" dirty="0"/>
              <a:t>Traits </a:t>
            </a:r>
            <a:r>
              <a:rPr lang="en-US" b="1" dirty="0"/>
              <a:t>cannot be instantiated</a:t>
            </a:r>
            <a:endParaRPr lang="en-US" dirty="0"/>
          </a:p>
          <a:p>
            <a:r>
              <a:rPr lang="en-US" dirty="0"/>
              <a:t>A class can use </a:t>
            </a:r>
            <a:r>
              <a:rPr lang="en-US" b="1" dirty="0"/>
              <a:t>multiple traits</a:t>
            </a:r>
            <a:endParaRPr lang="en-US" dirty="0"/>
          </a:p>
          <a:p>
            <a:r>
              <a:rPr lang="en-US" dirty="0"/>
              <a:t>Traits can contain:</a:t>
            </a:r>
          </a:p>
          <a:p>
            <a:pPr lvl="1"/>
            <a:r>
              <a:rPr lang="en-US" dirty="0"/>
              <a:t>Methods</a:t>
            </a:r>
          </a:p>
          <a:p>
            <a:pPr lvl="1"/>
            <a:r>
              <a:rPr lang="en-US" dirty="0"/>
              <a:t>Properties</a:t>
            </a:r>
          </a:p>
          <a:p>
            <a:r>
              <a:rPr lang="en-US" dirty="0"/>
              <a:t>Traits support:</a:t>
            </a:r>
          </a:p>
          <a:p>
            <a:pPr lvl="1"/>
            <a:r>
              <a:rPr lang="en-US" dirty="0"/>
              <a:t>Method overriding</a:t>
            </a:r>
          </a:p>
          <a:p>
            <a:pPr lvl="1"/>
            <a:r>
              <a:rPr lang="en-US" dirty="0"/>
              <a:t>Conflict resolution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48232" y="365126"/>
            <a:ext cx="6067118" cy="45719"/>
          </a:xfrm>
        </p:spPr>
        <p:txBody>
          <a:bodyPr>
            <a:normAutofit fontScale="90000"/>
          </a:bodyPr>
          <a:lstStyle/>
          <a:p>
            <a:r>
              <a:rPr dirty="0"/>
              <a:t>Visibility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7316" y="668594"/>
            <a:ext cx="8358034" cy="5508369"/>
          </a:xfrm>
        </p:spPr>
        <p:txBody>
          <a:bodyPr>
            <a:normAutofit fontScale="62500" lnSpcReduction="20000"/>
          </a:bodyPr>
          <a:lstStyle/>
          <a:p>
            <a:r>
              <a:rPr dirty="0"/>
              <a:t>private – accessible only inside class</a:t>
            </a:r>
          </a:p>
          <a:p>
            <a:r>
              <a:rPr dirty="0"/>
              <a:t>protected – accessible in child classes</a:t>
            </a:r>
            <a:endParaRPr lang="en-US" dirty="0"/>
          </a:p>
          <a:p>
            <a:r>
              <a:rPr lang="en-IN" dirty="0"/>
              <a:t>Public- accessible anywhere</a:t>
            </a:r>
          </a:p>
          <a:p>
            <a:r>
              <a:rPr lang="en-US" b="1" dirty="0"/>
              <a:t>Types of Visibility</a:t>
            </a:r>
          </a:p>
          <a:p>
            <a:r>
              <a:rPr lang="en-US" b="1" dirty="0"/>
              <a:t>1️⃣ Public</a:t>
            </a:r>
          </a:p>
          <a:p>
            <a:r>
              <a:rPr lang="en-US" dirty="0"/>
              <a:t>Accessible </a:t>
            </a:r>
            <a:r>
              <a:rPr lang="en-US" b="1" dirty="0"/>
              <a:t>from anywhere</a:t>
            </a:r>
            <a:endParaRPr lang="en-US" dirty="0"/>
          </a:p>
          <a:p>
            <a:r>
              <a:rPr lang="en-US" dirty="0"/>
              <a:t>Inside the class</a:t>
            </a:r>
          </a:p>
          <a:p>
            <a:r>
              <a:rPr lang="en-US" dirty="0"/>
              <a:t>Outside the class</a:t>
            </a:r>
          </a:p>
          <a:p>
            <a:r>
              <a:rPr lang="en-US" dirty="0"/>
              <a:t>In child (derived) classes</a:t>
            </a:r>
          </a:p>
          <a:p>
            <a:r>
              <a:rPr lang="en-US" b="1" dirty="0"/>
              <a:t>Use case:</a:t>
            </a:r>
            <a:br>
              <a:rPr lang="en-US" dirty="0"/>
            </a:br>
            <a:r>
              <a:rPr lang="en-US" dirty="0"/>
              <a:t>For methods or properties that should be openly accessible.</a:t>
            </a:r>
          </a:p>
          <a:p>
            <a:r>
              <a:rPr lang="en-US" b="1" dirty="0"/>
              <a:t>2️⃣ Private</a:t>
            </a:r>
          </a:p>
          <a:p>
            <a:r>
              <a:rPr lang="en-US" dirty="0"/>
              <a:t>Accessible </a:t>
            </a:r>
            <a:r>
              <a:rPr lang="en-US" b="1" dirty="0"/>
              <a:t>only inside the same class</a:t>
            </a:r>
            <a:endParaRPr lang="en-US" dirty="0"/>
          </a:p>
          <a:p>
            <a:r>
              <a:rPr lang="en-US" dirty="0"/>
              <a:t>❌ Not accessible outside the class</a:t>
            </a:r>
          </a:p>
          <a:p>
            <a:r>
              <a:rPr lang="en-US" dirty="0"/>
              <a:t>❌ Not accessible in child classes</a:t>
            </a:r>
          </a:p>
          <a:p>
            <a:r>
              <a:rPr lang="en-US" b="1" dirty="0"/>
              <a:t>Use case:</a:t>
            </a:r>
            <a:br>
              <a:rPr lang="en-US" dirty="0"/>
            </a:br>
            <a:r>
              <a:rPr lang="en-US" dirty="0"/>
              <a:t>For sensitive data like passwords or internal logic.</a:t>
            </a:r>
          </a:p>
          <a:p>
            <a:r>
              <a:rPr lang="en-US" b="1" dirty="0"/>
              <a:t>3️⃣ Protected</a:t>
            </a:r>
          </a:p>
          <a:p>
            <a:r>
              <a:rPr lang="en-US" dirty="0"/>
              <a:t>Accessible:</a:t>
            </a:r>
          </a:p>
          <a:p>
            <a:pPr lvl="1"/>
            <a:r>
              <a:rPr lang="en-US" dirty="0"/>
              <a:t>Inside the same class</a:t>
            </a:r>
          </a:p>
          <a:p>
            <a:pPr lvl="1"/>
            <a:r>
              <a:rPr lang="en-US" dirty="0"/>
              <a:t>Inside child classes</a:t>
            </a:r>
          </a:p>
          <a:p>
            <a:r>
              <a:rPr lang="en-US" dirty="0"/>
              <a:t>❌ Not accessible outside the class</a:t>
            </a:r>
          </a:p>
          <a:p>
            <a:r>
              <a:rPr lang="en-US" b="1" dirty="0"/>
              <a:t>Use case:</a:t>
            </a:r>
            <a:br>
              <a:rPr lang="en-US" dirty="0"/>
            </a:br>
            <a:r>
              <a:rPr lang="en-US" dirty="0"/>
              <a:t>For data meant for inheritance but not public use.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EF2CB-284C-0828-AB3E-0C0A18452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4502" y="365126"/>
            <a:ext cx="7020847" cy="45719"/>
          </a:xfrm>
        </p:spPr>
        <p:txBody>
          <a:bodyPr>
            <a:normAutofit fontScale="90000"/>
          </a:bodyPr>
          <a:lstStyle/>
          <a:p>
            <a:r>
              <a:rPr lang="en-US" dirty="0"/>
              <a:t>Type hinting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56DA0-8C67-3A96-D9AE-B2EBFE53CB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484" y="792971"/>
            <a:ext cx="8367866" cy="5383992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Purpose of Type Hinting</a:t>
            </a:r>
          </a:p>
          <a:p>
            <a:r>
              <a:rPr lang="en-US" b="1" dirty="0"/>
              <a:t>Improves Code Quality</a:t>
            </a:r>
            <a:endParaRPr lang="en-US" dirty="0"/>
          </a:p>
          <a:p>
            <a:pPr lvl="1"/>
            <a:r>
              <a:rPr lang="en-US" dirty="0"/>
              <a:t>Prevents wrong data types</a:t>
            </a:r>
          </a:p>
          <a:p>
            <a:r>
              <a:rPr lang="en-US" b="1" dirty="0"/>
              <a:t>Error Reduction</a:t>
            </a:r>
            <a:endParaRPr lang="en-US" dirty="0"/>
          </a:p>
          <a:p>
            <a:pPr lvl="1"/>
            <a:r>
              <a:rPr lang="en-US" dirty="0"/>
              <a:t>Detects type-related bugs early</a:t>
            </a:r>
          </a:p>
          <a:p>
            <a:r>
              <a:rPr lang="en-US" b="1" dirty="0"/>
              <a:t>Better Readability</a:t>
            </a:r>
            <a:endParaRPr lang="en-US" dirty="0"/>
          </a:p>
          <a:p>
            <a:pPr lvl="1"/>
            <a:r>
              <a:rPr lang="en-US" dirty="0"/>
              <a:t>Makes code easier to understand</a:t>
            </a:r>
          </a:p>
          <a:p>
            <a:r>
              <a:rPr lang="en-US" b="1" dirty="0"/>
              <a:t>Enforces Strictness</a:t>
            </a:r>
            <a:endParaRPr lang="en-US" dirty="0"/>
          </a:p>
          <a:p>
            <a:pPr lvl="1"/>
            <a:r>
              <a:rPr lang="en-US" dirty="0"/>
              <a:t>Ensures functions receive expected inputs</a:t>
            </a:r>
          </a:p>
          <a:p>
            <a:r>
              <a:rPr lang="en-US" b="1" dirty="0"/>
              <a:t>Advantages of Type Hinting</a:t>
            </a:r>
          </a:p>
          <a:p>
            <a:r>
              <a:rPr lang="en-US" dirty="0"/>
              <a:t>Reduces bugs</a:t>
            </a:r>
          </a:p>
          <a:p>
            <a:r>
              <a:rPr lang="en-US" dirty="0"/>
              <a:t>Improves maintainability</a:t>
            </a:r>
          </a:p>
          <a:p>
            <a:r>
              <a:rPr lang="en-US" dirty="0"/>
              <a:t>Encourages clean coding</a:t>
            </a:r>
          </a:p>
          <a:p>
            <a:r>
              <a:rPr lang="en-US" dirty="0"/>
              <a:t>Enhances IDE support</a:t>
            </a:r>
          </a:p>
          <a:p>
            <a:r>
              <a:rPr lang="en-US" b="1" dirty="0"/>
              <a:t>Real-World Usage</a:t>
            </a:r>
          </a:p>
          <a:p>
            <a:r>
              <a:rPr lang="en-US" dirty="0"/>
              <a:t>Framework development</a:t>
            </a:r>
          </a:p>
          <a:p>
            <a:r>
              <a:rPr lang="en-US" dirty="0"/>
              <a:t>API validation</a:t>
            </a:r>
          </a:p>
          <a:p>
            <a:r>
              <a:rPr lang="en-US" dirty="0"/>
              <a:t>Database layer</a:t>
            </a:r>
          </a:p>
          <a:p>
            <a:r>
              <a:rPr lang="en-US" dirty="0"/>
              <a:t>MVC architecture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91097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0644" y="365126"/>
            <a:ext cx="6794705" cy="136319"/>
          </a:xfrm>
        </p:spPr>
        <p:txBody>
          <a:bodyPr>
            <a:normAutofit fontScale="90000"/>
          </a:bodyPr>
          <a:lstStyle/>
          <a:p>
            <a:r>
              <a:rPr dirty="0"/>
              <a:t>Final Keyword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39097"/>
            <a:ext cx="8515350" cy="5537866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Final keyword prevents inheritance and method overriding.</a:t>
            </a:r>
            <a:endParaRPr lang="en-US" dirty="0"/>
          </a:p>
          <a:p>
            <a:r>
              <a:rPr lang="en-US" b="1" dirty="0"/>
              <a:t>Why Use the Final Keyword</a:t>
            </a:r>
          </a:p>
          <a:p>
            <a:r>
              <a:rPr lang="en-US" b="1" dirty="0"/>
              <a:t>Security</a:t>
            </a:r>
            <a:endParaRPr lang="en-US" dirty="0"/>
          </a:p>
          <a:p>
            <a:pPr lvl="1"/>
            <a:r>
              <a:rPr lang="en-US" dirty="0"/>
              <a:t>Prevents misuse or alteration of sensitive logic</a:t>
            </a:r>
          </a:p>
          <a:p>
            <a:r>
              <a:rPr lang="en-US" b="1" dirty="0"/>
              <a:t>Code Integrity</a:t>
            </a:r>
            <a:endParaRPr lang="en-US" dirty="0"/>
          </a:p>
          <a:p>
            <a:pPr lvl="1"/>
            <a:r>
              <a:rPr lang="en-US" dirty="0"/>
              <a:t>Ensures consistent behavior</a:t>
            </a:r>
          </a:p>
          <a:p>
            <a:r>
              <a:rPr lang="en-US" b="1" dirty="0"/>
              <a:t>Performance</a:t>
            </a:r>
            <a:endParaRPr lang="en-US" dirty="0"/>
          </a:p>
          <a:p>
            <a:pPr lvl="1"/>
            <a:r>
              <a:rPr lang="en-US" dirty="0"/>
              <a:t>PHP can optimize final methods better</a:t>
            </a:r>
          </a:p>
          <a:p>
            <a:r>
              <a:rPr lang="en-US" b="1" dirty="0"/>
              <a:t>Design Control</a:t>
            </a:r>
            <a:endParaRPr lang="en-US" dirty="0"/>
          </a:p>
          <a:p>
            <a:pPr lvl="1"/>
            <a:r>
              <a:rPr lang="en-US" dirty="0"/>
              <a:t>Enforces strict class design</a:t>
            </a:r>
          </a:p>
          <a:p>
            <a:r>
              <a:rPr lang="en-US" b="1" dirty="0"/>
              <a:t>Final Keyword in Inheritance</a:t>
            </a:r>
          </a:p>
          <a:p>
            <a:r>
              <a:rPr lang="en-US" dirty="0"/>
              <a:t>Final class → ❌ Cannot be extended</a:t>
            </a:r>
          </a:p>
          <a:p>
            <a:r>
              <a:rPr lang="en-US" dirty="0"/>
              <a:t>Final method → ❌ Cannot be overridden</a:t>
            </a:r>
          </a:p>
          <a:p>
            <a:r>
              <a:rPr lang="en-US" dirty="0"/>
              <a:t>Non-final methods → ✔ Can be overridden</a:t>
            </a:r>
          </a:p>
          <a:p>
            <a:r>
              <a:rPr lang="en-US" b="1" dirty="0"/>
              <a:t>Limitations of Final Keyword</a:t>
            </a:r>
          </a:p>
          <a:p>
            <a:r>
              <a:rPr lang="en-US" dirty="0"/>
              <a:t>Reduces flexibility</a:t>
            </a:r>
          </a:p>
          <a:p>
            <a:r>
              <a:rPr lang="en-US" dirty="0"/>
              <a:t>Not suitable for extensible systems</a:t>
            </a:r>
          </a:p>
          <a:p>
            <a:r>
              <a:rPr lang="en-US" dirty="0"/>
              <a:t>Cannot be used with abstract methods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CFC95-4C1D-D976-0D07-F808424BF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0925"/>
            <a:ext cx="8229600" cy="45719"/>
          </a:xfrm>
        </p:spPr>
        <p:txBody>
          <a:bodyPr>
            <a:normAutofit fontScale="90000"/>
          </a:bodyPr>
          <a:lstStyle/>
          <a:p>
            <a:r>
              <a:rPr lang="en-IN" dirty="0"/>
              <a:t>Email Security Function –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C215A-AF77-7EFE-07C8-C18DC66A10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14228"/>
            <a:ext cx="8686800" cy="634377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Email security is very important in web applications because email is commonly used for </a:t>
            </a:r>
            <a:r>
              <a:rPr lang="en-US" b="1" dirty="0"/>
              <a:t>user registration, password recovery, notifications, and communication</a:t>
            </a:r>
            <a:r>
              <a:rPr lang="en-US" dirty="0"/>
              <a:t>. If email security is not properly implemented, sensitive information such as </a:t>
            </a:r>
            <a:r>
              <a:rPr lang="en-US" b="1" dirty="0"/>
              <a:t>user credentials, personal data, and system access links</a:t>
            </a:r>
            <a:r>
              <a:rPr lang="en-US" dirty="0"/>
              <a:t> can be exposed to attackers.</a:t>
            </a:r>
          </a:p>
          <a:p>
            <a:r>
              <a:rPr lang="en-US" b="1" dirty="0"/>
              <a:t>Importance of Email Security</a:t>
            </a:r>
          </a:p>
          <a:p>
            <a:r>
              <a:rPr lang="en-US" b="1" dirty="0"/>
              <a:t>Protects Sensitive Information</a:t>
            </a:r>
            <a:br>
              <a:rPr lang="en-US" dirty="0"/>
            </a:br>
            <a:r>
              <a:rPr lang="en-US" dirty="0"/>
              <a:t>Emails often contain confidential data like passwords, OTPs, verification links, and personal details. Email security ensures that this information is not intercepted or misused.</a:t>
            </a:r>
          </a:p>
          <a:p>
            <a:r>
              <a:rPr lang="en-US" b="1" dirty="0"/>
              <a:t>Prevents Unauthorized Access</a:t>
            </a:r>
            <a:br>
              <a:rPr lang="en-US" dirty="0"/>
            </a:br>
            <a:r>
              <a:rPr lang="en-US" dirty="0"/>
              <a:t>Insecure email handling can allow attackers to send fake emails, reset passwords, or gain access to user accounts.</a:t>
            </a:r>
          </a:p>
          <a:p>
            <a:r>
              <a:rPr lang="en-US" b="1" dirty="0"/>
              <a:t>Avoids Spam and Phishing Attacks</a:t>
            </a:r>
            <a:br>
              <a:rPr lang="en-US" dirty="0"/>
            </a:br>
            <a:r>
              <a:rPr lang="en-US" dirty="0"/>
              <a:t>Proper validation and security measures help prevent phishing emails that trick users into sharing sensitive information.</a:t>
            </a:r>
          </a:p>
          <a:p>
            <a:r>
              <a:rPr lang="en-US" b="1" dirty="0"/>
              <a:t>Maintains User Trust</a:t>
            </a:r>
            <a:br>
              <a:rPr lang="en-US" dirty="0"/>
            </a:br>
            <a:r>
              <a:rPr lang="en-US" dirty="0"/>
              <a:t>Secure email communication increases user confidence in the application and protects the organization’s reputation.</a:t>
            </a:r>
          </a:p>
          <a:p>
            <a:r>
              <a:rPr lang="en-US" b="1" dirty="0"/>
              <a:t>Ensures Data Integrity</a:t>
            </a:r>
            <a:br>
              <a:rPr lang="en-US" dirty="0"/>
            </a:br>
            <a:r>
              <a:rPr lang="en-US" dirty="0"/>
              <a:t>Email security ensures that the message content is not altered during transmission.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79905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632C5-8253-653B-FC0C-1B29B8C24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058" y="274638"/>
            <a:ext cx="7693742" cy="45719"/>
          </a:xfrm>
        </p:spPr>
        <p:txBody>
          <a:bodyPr>
            <a:normAutofit fontScale="90000"/>
          </a:bodyPr>
          <a:lstStyle/>
          <a:p>
            <a:r>
              <a:rPr lang="en-US" dirty="0"/>
              <a:t>File Handling in PHP – Theory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5A584-82A7-10AC-6F32-E9AB15A132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310" y="727587"/>
            <a:ext cx="8299040" cy="5449376"/>
          </a:xfrm>
        </p:spPr>
        <p:txBody>
          <a:bodyPr/>
          <a:lstStyle/>
          <a:p>
            <a:r>
              <a:rPr lang="en-US" dirty="0"/>
              <a:t>File handling in PHP refers to the process of </a:t>
            </a:r>
            <a:r>
              <a:rPr lang="en-US" b="1" dirty="0"/>
              <a:t>creating, opening, reading, writing, and closing files</a:t>
            </a:r>
            <a:r>
              <a:rPr lang="en-US" dirty="0"/>
              <a:t> stored on the server. It allows PHP applications to store data permanently, such as </a:t>
            </a:r>
            <a:r>
              <a:rPr lang="en-US" b="1" dirty="0"/>
              <a:t>logs, user information, configuration settings, and reports</a:t>
            </a:r>
            <a:r>
              <a:rPr lang="en-US" dirty="0"/>
              <a:t>. Proper file handling is essential for data management and application functionality.</a:t>
            </a:r>
          </a:p>
          <a:p>
            <a:r>
              <a:rPr lang="en-US" b="1" dirty="0"/>
              <a:t>Common File Modes:</a:t>
            </a:r>
            <a:endParaRPr lang="en-US" dirty="0"/>
          </a:p>
          <a:p>
            <a:r>
              <a:rPr lang="en-US" dirty="0"/>
              <a:t>r – Read only (file must exist)</a:t>
            </a:r>
          </a:p>
          <a:p>
            <a:r>
              <a:rPr lang="en-US" dirty="0"/>
              <a:t>w – Write only (creates file if not exists, overwrites existing file)</a:t>
            </a:r>
          </a:p>
          <a:p>
            <a:r>
              <a:rPr lang="en-US" dirty="0"/>
              <a:t>a – Append (adds data to the end of file)</a:t>
            </a:r>
          </a:p>
          <a:p>
            <a:r>
              <a:rPr lang="en-US" dirty="0"/>
              <a:t>r+ – Read and write</a:t>
            </a:r>
          </a:p>
          <a:p>
            <a:r>
              <a:rPr lang="en-US" dirty="0"/>
              <a:t>w+ – Read and write (overwrites file)</a:t>
            </a:r>
          </a:p>
          <a:p>
            <a:r>
              <a:rPr lang="en-US" dirty="0"/>
              <a:t>Opening a file allocates system resources and prepares the file for further operations.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27811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618EB-AD96-40F6-5335-D107E2F7D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5844" y="365126"/>
            <a:ext cx="7099505" cy="45719"/>
          </a:xfrm>
        </p:spPr>
        <p:txBody>
          <a:bodyPr>
            <a:normAutofit fontScale="90000"/>
          </a:bodyPr>
          <a:lstStyle/>
          <a:p>
            <a:r>
              <a:rPr lang="en-US" dirty="0"/>
              <a:t>Email handling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AE359-66F3-9791-F715-114B5FEB4B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87" y="753642"/>
            <a:ext cx="8397363" cy="5423321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Handling Emails in PHP</a:t>
            </a:r>
          </a:p>
          <a:p>
            <a:r>
              <a:rPr lang="en-US" b="1" dirty="0"/>
              <a:t>Definition</a:t>
            </a:r>
          </a:p>
          <a:p>
            <a:r>
              <a:rPr lang="en-US" b="1" dirty="0"/>
              <a:t>Handling emails in PHP</a:t>
            </a:r>
            <a:r>
              <a:rPr lang="en-US" dirty="0"/>
              <a:t> refers to the process of </a:t>
            </a:r>
            <a:r>
              <a:rPr lang="en-US" b="1" dirty="0"/>
              <a:t>sending, validating, and managing email messages</a:t>
            </a:r>
            <a:r>
              <a:rPr lang="en-US" dirty="0"/>
              <a:t> from a web application.</a:t>
            </a:r>
            <a:br>
              <a:rPr lang="en-US" dirty="0"/>
            </a:br>
            <a:r>
              <a:rPr lang="en-US" dirty="0"/>
              <a:t>PHP provides built-in functions like mail() and also supports advanced</a:t>
            </a:r>
          </a:p>
          <a:p>
            <a:r>
              <a:rPr lang="en-US" b="1" dirty="0"/>
              <a:t>Sending Emails in PHP</a:t>
            </a:r>
          </a:p>
          <a:p>
            <a:r>
              <a:rPr lang="en-US" dirty="0"/>
              <a:t>PHP uses the </a:t>
            </a:r>
            <a:r>
              <a:rPr lang="en-US" b="1" dirty="0"/>
              <a:t>mail() function</a:t>
            </a:r>
            <a:r>
              <a:rPr lang="en-US" dirty="0"/>
              <a:t> to send emails.</a:t>
            </a:r>
          </a:p>
          <a:p>
            <a:r>
              <a:rPr lang="en-US" b="1" dirty="0"/>
              <a:t>Basic Email Components</a:t>
            </a:r>
          </a:p>
          <a:p>
            <a:r>
              <a:rPr lang="en-US" b="1" dirty="0"/>
              <a:t>To</a:t>
            </a:r>
            <a:r>
              <a:rPr lang="en-US" dirty="0"/>
              <a:t> – Recipient’s email address</a:t>
            </a:r>
          </a:p>
          <a:p>
            <a:r>
              <a:rPr lang="en-US" b="1" dirty="0"/>
              <a:t>Subject</a:t>
            </a:r>
            <a:r>
              <a:rPr lang="en-US" dirty="0"/>
              <a:t> – Email subject line</a:t>
            </a:r>
          </a:p>
          <a:p>
            <a:r>
              <a:rPr lang="en-US" b="1" dirty="0"/>
              <a:t>Message</a:t>
            </a:r>
            <a:r>
              <a:rPr lang="en-US" dirty="0"/>
              <a:t> – Email body</a:t>
            </a:r>
          </a:p>
          <a:p>
            <a:r>
              <a:rPr lang="en-US" b="1" dirty="0"/>
              <a:t>Headers</a:t>
            </a:r>
            <a:r>
              <a:rPr lang="en-US" dirty="0"/>
              <a:t> – Sender info and MIME type</a:t>
            </a:r>
          </a:p>
          <a:p>
            <a:r>
              <a:rPr lang="en-US" b="1" dirty="0"/>
              <a:t>Handling HTML Emails</a:t>
            </a:r>
          </a:p>
          <a:p>
            <a:r>
              <a:rPr lang="en-US" dirty="0"/>
              <a:t>Set proper headers (Content-Type: text/html)</a:t>
            </a:r>
          </a:p>
          <a:p>
            <a:r>
              <a:rPr lang="en-US" dirty="0"/>
              <a:t>Allows formatted emails with images and links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58631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BB654-6491-3E59-3974-80524E74B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45719"/>
          </a:xfrm>
        </p:spPr>
        <p:txBody>
          <a:bodyPr>
            <a:normAutofit fontScale="90000"/>
          </a:bodyPr>
          <a:lstStyle/>
          <a:p>
            <a:r>
              <a:rPr lang="en-US" dirty="0"/>
              <a:t>Connection with </a:t>
            </a:r>
            <a:r>
              <a:rPr lang="en-US" dirty="0" err="1"/>
              <a:t>mysql</a:t>
            </a:r>
            <a:r>
              <a:rPr lang="en-US" dirty="0"/>
              <a:t> database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02631-6BC2-3081-B7AC-A5A09D020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84816"/>
            <a:ext cx="8515350" cy="6036027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Connection with MySQL Database in PHP</a:t>
            </a:r>
          </a:p>
          <a:p>
            <a:r>
              <a:rPr lang="en-US" b="1" dirty="0"/>
              <a:t>Theory Explanation</a:t>
            </a:r>
          </a:p>
          <a:p>
            <a:r>
              <a:rPr lang="en-US" dirty="0"/>
              <a:t>Connecting PHP with a MySQL database allows a web application to </a:t>
            </a:r>
            <a:r>
              <a:rPr lang="en-US" b="1" dirty="0"/>
              <a:t>store, retrieve, update, and delete data</a:t>
            </a:r>
            <a:r>
              <a:rPr lang="en-US" dirty="0"/>
              <a:t> dynamically.</a:t>
            </a:r>
            <a:br>
              <a:rPr lang="en-US" dirty="0"/>
            </a:br>
            <a:r>
              <a:rPr lang="en-US" dirty="0"/>
              <a:t>PHP provides </a:t>
            </a:r>
            <a:r>
              <a:rPr lang="en-US" b="1" dirty="0"/>
              <a:t>two main ways</a:t>
            </a:r>
            <a:r>
              <a:rPr lang="en-US" dirty="0"/>
              <a:t> to connect to a MySQL database:</a:t>
            </a:r>
          </a:p>
          <a:p>
            <a:r>
              <a:rPr lang="en-US" b="1" dirty="0" err="1"/>
              <a:t>MySQLi</a:t>
            </a:r>
            <a:r>
              <a:rPr lang="en-US" b="1" dirty="0"/>
              <a:t> (MySQL Improved)</a:t>
            </a:r>
            <a:endParaRPr lang="en-US" dirty="0"/>
          </a:p>
          <a:p>
            <a:r>
              <a:rPr lang="en-US" b="1" dirty="0"/>
              <a:t>PDO (PHP Data Objects)</a:t>
            </a:r>
            <a:endParaRPr lang="en-US" dirty="0"/>
          </a:p>
          <a:p>
            <a:r>
              <a:rPr lang="en-US" dirty="0"/>
              <a:t>Both methods support </a:t>
            </a:r>
            <a:r>
              <a:rPr lang="en-US" b="1" dirty="0"/>
              <a:t>secure connections</a:t>
            </a:r>
            <a:r>
              <a:rPr lang="en-US" dirty="0"/>
              <a:t> and </a:t>
            </a:r>
            <a:r>
              <a:rPr lang="en-US" b="1" dirty="0"/>
              <a:t>prepared statements</a:t>
            </a:r>
            <a:r>
              <a:rPr lang="en-US" dirty="0"/>
              <a:t>.</a:t>
            </a:r>
          </a:p>
          <a:p>
            <a:r>
              <a:rPr lang="en-US" b="1" dirty="0"/>
              <a:t>1️⃣ </a:t>
            </a:r>
            <a:r>
              <a:rPr lang="en-US" b="1" dirty="0" err="1"/>
              <a:t>MySQLi</a:t>
            </a:r>
            <a:r>
              <a:rPr lang="en-US" b="1" dirty="0"/>
              <a:t> (MySQL Improved)</a:t>
            </a:r>
          </a:p>
          <a:p>
            <a:r>
              <a:rPr lang="en-US" b="1" dirty="0"/>
              <a:t>About </a:t>
            </a:r>
            <a:r>
              <a:rPr lang="en-US" b="1" dirty="0" err="1"/>
              <a:t>MySQLi</a:t>
            </a:r>
            <a:endParaRPr lang="en-US" b="1" dirty="0"/>
          </a:p>
          <a:p>
            <a:r>
              <a:rPr lang="en-US" dirty="0"/>
              <a:t>Works </a:t>
            </a:r>
            <a:r>
              <a:rPr lang="en-US" b="1" dirty="0"/>
              <a:t>only with MySQL</a:t>
            </a:r>
            <a:endParaRPr lang="en-US" dirty="0"/>
          </a:p>
          <a:p>
            <a:r>
              <a:rPr lang="en-US" dirty="0"/>
              <a:t>Supports </a:t>
            </a:r>
            <a:r>
              <a:rPr lang="en-US" b="1" dirty="0"/>
              <a:t>procedural and object-oriented</a:t>
            </a:r>
            <a:r>
              <a:rPr lang="en-US" dirty="0"/>
              <a:t> styles</a:t>
            </a:r>
          </a:p>
          <a:p>
            <a:r>
              <a:rPr lang="en-US" dirty="0"/>
              <a:t>Faster and simpler for MySQL-specific projects</a:t>
            </a:r>
          </a:p>
          <a:p>
            <a:r>
              <a:rPr lang="en-US" b="1" dirty="0"/>
              <a:t>Advantages</a:t>
            </a:r>
          </a:p>
          <a:p>
            <a:r>
              <a:rPr lang="en-US" dirty="0"/>
              <a:t>Easy to use</a:t>
            </a:r>
          </a:p>
          <a:p>
            <a:r>
              <a:rPr lang="en-US" dirty="0"/>
              <a:t>Good performance</a:t>
            </a:r>
          </a:p>
          <a:p>
            <a:r>
              <a:rPr lang="en-US" dirty="0"/>
              <a:t>Supports prepared statements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54032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9255B-E93F-857E-D1F9-165887458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068E0-6A07-011F-588E-D6D4323EB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98323"/>
            <a:ext cx="7886700" cy="6078640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&lt;?</a:t>
            </a:r>
            <a:r>
              <a:rPr lang="en-US" b="1" dirty="0" err="1"/>
              <a:t>php</a:t>
            </a:r>
            <a:endParaRPr lang="en-US" b="1" dirty="0"/>
          </a:p>
          <a:p>
            <a:r>
              <a:rPr lang="en-US" b="1" dirty="0"/>
              <a:t>$</a:t>
            </a:r>
            <a:r>
              <a:rPr lang="en-US" b="1" dirty="0" err="1"/>
              <a:t>servername</a:t>
            </a:r>
            <a:r>
              <a:rPr lang="en-US" b="1" dirty="0"/>
              <a:t> = "localhost";</a:t>
            </a:r>
          </a:p>
          <a:p>
            <a:r>
              <a:rPr lang="en-US" b="1" dirty="0"/>
              <a:t>$username   = "root";</a:t>
            </a:r>
          </a:p>
          <a:p>
            <a:r>
              <a:rPr lang="en-US" b="1" dirty="0"/>
              <a:t>$password   = "";</a:t>
            </a:r>
          </a:p>
          <a:p>
            <a:r>
              <a:rPr lang="en-US" b="1" dirty="0"/>
              <a:t>$database   = "</a:t>
            </a:r>
            <a:r>
              <a:rPr lang="en-US" b="1" dirty="0" err="1"/>
              <a:t>test_db</a:t>
            </a:r>
            <a:r>
              <a:rPr lang="en-US" b="1" dirty="0"/>
              <a:t>";</a:t>
            </a:r>
          </a:p>
          <a:p>
            <a:endParaRPr lang="en-US" b="1" dirty="0"/>
          </a:p>
          <a:p>
            <a:r>
              <a:rPr lang="en-US" b="1" dirty="0"/>
              <a:t>// Create connection</a:t>
            </a:r>
          </a:p>
          <a:p>
            <a:r>
              <a:rPr lang="en-US" b="1" dirty="0"/>
              <a:t>$conn = new </a:t>
            </a:r>
            <a:r>
              <a:rPr lang="en-US" b="1" dirty="0" err="1"/>
              <a:t>mysqli</a:t>
            </a:r>
            <a:r>
              <a:rPr lang="en-US" b="1" dirty="0"/>
              <a:t>($</a:t>
            </a:r>
            <a:r>
              <a:rPr lang="en-US" b="1" dirty="0" err="1"/>
              <a:t>servername</a:t>
            </a:r>
            <a:r>
              <a:rPr lang="en-US" b="1" dirty="0"/>
              <a:t>, $username, $password, $database);</a:t>
            </a:r>
          </a:p>
          <a:p>
            <a:endParaRPr lang="en-US" b="1" dirty="0"/>
          </a:p>
          <a:p>
            <a:r>
              <a:rPr lang="en-US" b="1" dirty="0"/>
              <a:t>// Check connection</a:t>
            </a:r>
          </a:p>
          <a:p>
            <a:r>
              <a:rPr lang="en-US" b="1" dirty="0"/>
              <a:t>if ($conn-&gt;</a:t>
            </a:r>
            <a:r>
              <a:rPr lang="en-US" b="1" dirty="0" err="1"/>
              <a:t>connect_error</a:t>
            </a:r>
            <a:r>
              <a:rPr lang="en-US" b="1" dirty="0"/>
              <a:t>) {</a:t>
            </a:r>
          </a:p>
          <a:p>
            <a:r>
              <a:rPr lang="en-US" b="1" dirty="0"/>
              <a:t>    die("Connection failed: " . $conn-&gt;</a:t>
            </a:r>
            <a:r>
              <a:rPr lang="en-US" b="1" dirty="0" err="1"/>
              <a:t>connect_error</a:t>
            </a:r>
            <a:r>
              <a:rPr lang="en-US" b="1" dirty="0"/>
              <a:t>);</a:t>
            </a:r>
          </a:p>
          <a:p>
            <a:r>
              <a:rPr lang="en-US" b="1" dirty="0"/>
              <a:t>}</a:t>
            </a:r>
          </a:p>
          <a:p>
            <a:endParaRPr lang="en-US" b="1" dirty="0"/>
          </a:p>
          <a:p>
            <a:r>
              <a:rPr lang="en-US" b="1" dirty="0"/>
              <a:t>echo "Database connected successfully!";</a:t>
            </a:r>
          </a:p>
          <a:p>
            <a:r>
              <a:rPr lang="en-US" b="1" dirty="0"/>
              <a:t>?&gt;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04795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2D705-6189-C089-181E-75256884D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2154" y="365126"/>
            <a:ext cx="6883195" cy="45719"/>
          </a:xfrm>
        </p:spPr>
        <p:txBody>
          <a:bodyPr>
            <a:normAutofit fontScale="90000"/>
          </a:bodyPr>
          <a:lstStyle/>
          <a:p>
            <a:r>
              <a:rPr lang="en-US" dirty="0"/>
              <a:t>PDO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CC66B-1F44-9ED1-F49A-C4AF96A5F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26" y="658761"/>
            <a:ext cx="8446524" cy="5518202"/>
          </a:xfrm>
        </p:spPr>
        <p:txBody>
          <a:bodyPr/>
          <a:lstStyle/>
          <a:p>
            <a:r>
              <a:rPr lang="en-IN" b="1" dirty="0"/>
              <a:t>2️⃣ PDO (PHP Data Objects)</a:t>
            </a:r>
          </a:p>
          <a:p>
            <a:r>
              <a:rPr lang="en-IN" b="1" dirty="0"/>
              <a:t>About PDO</a:t>
            </a:r>
          </a:p>
          <a:p>
            <a:r>
              <a:rPr lang="en-IN" dirty="0"/>
              <a:t>Works with </a:t>
            </a:r>
            <a:r>
              <a:rPr lang="en-IN" b="1" dirty="0"/>
              <a:t>multiple databases</a:t>
            </a:r>
            <a:r>
              <a:rPr lang="en-IN" dirty="0"/>
              <a:t> (MySQL, PostgreSQL, SQLite, etc.)</a:t>
            </a:r>
          </a:p>
          <a:p>
            <a:r>
              <a:rPr lang="en-IN" dirty="0"/>
              <a:t>Uses </a:t>
            </a:r>
            <a:r>
              <a:rPr lang="en-IN" b="1" dirty="0"/>
              <a:t>exception handling</a:t>
            </a:r>
            <a:endParaRPr lang="en-IN" dirty="0"/>
          </a:p>
          <a:p>
            <a:r>
              <a:rPr lang="en-IN" dirty="0"/>
              <a:t>More secure and flexible</a:t>
            </a:r>
          </a:p>
          <a:p>
            <a:r>
              <a:rPr lang="en-IN" b="1" dirty="0"/>
              <a:t>Advantages</a:t>
            </a:r>
          </a:p>
          <a:p>
            <a:r>
              <a:rPr lang="en-IN" dirty="0"/>
              <a:t>Database-independent</a:t>
            </a:r>
          </a:p>
          <a:p>
            <a:r>
              <a:rPr lang="en-IN" dirty="0"/>
              <a:t>Supports prepared statements</a:t>
            </a:r>
          </a:p>
          <a:p>
            <a:r>
              <a:rPr lang="en-IN" dirty="0"/>
              <a:t>Better error handling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59755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B4E5B-83F7-09B1-0DD3-92B4771B0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EE9FB-A1CD-7978-4998-4874241025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IN" dirty="0"/>
              <a:t>&lt;?</a:t>
            </a:r>
            <a:r>
              <a:rPr lang="en-IN" dirty="0" err="1"/>
              <a:t>php</a:t>
            </a:r>
            <a:endParaRPr lang="en-IN" dirty="0"/>
          </a:p>
          <a:p>
            <a:r>
              <a:rPr lang="en-IN" dirty="0"/>
              <a:t>$</a:t>
            </a:r>
            <a:r>
              <a:rPr lang="en-IN" dirty="0" err="1"/>
              <a:t>servername</a:t>
            </a:r>
            <a:r>
              <a:rPr lang="en-IN" dirty="0"/>
              <a:t> = "localhost";</a:t>
            </a:r>
          </a:p>
          <a:p>
            <a:r>
              <a:rPr lang="en-IN" dirty="0"/>
              <a:t>$username   = "root";</a:t>
            </a:r>
          </a:p>
          <a:p>
            <a:r>
              <a:rPr lang="en-IN" dirty="0"/>
              <a:t>$password   = "";</a:t>
            </a:r>
          </a:p>
          <a:p>
            <a:r>
              <a:rPr lang="en-IN" dirty="0"/>
              <a:t>$database   = "</a:t>
            </a:r>
            <a:r>
              <a:rPr lang="en-IN" dirty="0" err="1"/>
              <a:t>test_db</a:t>
            </a:r>
            <a:r>
              <a:rPr lang="en-IN" dirty="0"/>
              <a:t>";</a:t>
            </a:r>
          </a:p>
          <a:p>
            <a:endParaRPr lang="en-IN" dirty="0"/>
          </a:p>
          <a:p>
            <a:r>
              <a:rPr lang="en-IN" dirty="0"/>
              <a:t>try {</a:t>
            </a:r>
          </a:p>
          <a:p>
            <a:r>
              <a:rPr lang="en-IN" dirty="0"/>
              <a:t>    $conn = new PDO(</a:t>
            </a:r>
          </a:p>
          <a:p>
            <a:r>
              <a:rPr lang="en-IN" dirty="0"/>
              <a:t>        "</a:t>
            </a:r>
            <a:r>
              <a:rPr lang="en-IN" dirty="0" err="1"/>
              <a:t>mysql:host</a:t>
            </a:r>
            <a:r>
              <a:rPr lang="en-IN" dirty="0"/>
              <a:t>=$</a:t>
            </a:r>
            <a:r>
              <a:rPr lang="en-IN" dirty="0" err="1"/>
              <a:t>servername;dbname</a:t>
            </a:r>
            <a:r>
              <a:rPr lang="en-IN" dirty="0"/>
              <a:t>=$database",</a:t>
            </a:r>
          </a:p>
          <a:p>
            <a:r>
              <a:rPr lang="en-IN" dirty="0"/>
              <a:t>        $username,</a:t>
            </a:r>
          </a:p>
          <a:p>
            <a:r>
              <a:rPr lang="en-IN" dirty="0"/>
              <a:t>        $password</a:t>
            </a:r>
          </a:p>
          <a:p>
            <a:r>
              <a:rPr lang="en-IN" dirty="0"/>
              <a:t>    );</a:t>
            </a:r>
          </a:p>
          <a:p>
            <a:endParaRPr lang="en-IN" dirty="0"/>
          </a:p>
          <a:p>
            <a:r>
              <a:rPr lang="en-IN" dirty="0"/>
              <a:t>    // Set error mode to exception</a:t>
            </a:r>
          </a:p>
          <a:p>
            <a:r>
              <a:rPr lang="en-IN" dirty="0"/>
              <a:t>    $conn-&gt;</a:t>
            </a:r>
            <a:r>
              <a:rPr lang="en-IN" dirty="0" err="1"/>
              <a:t>setAttribute</a:t>
            </a:r>
            <a:r>
              <a:rPr lang="en-IN" dirty="0"/>
              <a:t>(PDO::ATTR_ERRMODE, PDO::ERRMODE_EXCEPTION);</a:t>
            </a:r>
          </a:p>
          <a:p>
            <a:endParaRPr lang="en-IN" dirty="0"/>
          </a:p>
          <a:p>
            <a:r>
              <a:rPr lang="en-IN" dirty="0"/>
              <a:t>    echo "Database connected successfully!";</a:t>
            </a:r>
          </a:p>
          <a:p>
            <a:r>
              <a:rPr lang="en-IN" dirty="0"/>
              <a:t>} catch (</a:t>
            </a:r>
            <a:r>
              <a:rPr lang="en-IN" dirty="0" err="1"/>
              <a:t>PDOException</a:t>
            </a:r>
            <a:r>
              <a:rPr lang="en-IN" dirty="0"/>
              <a:t> $e) {</a:t>
            </a:r>
          </a:p>
          <a:p>
            <a:r>
              <a:rPr lang="en-IN" dirty="0"/>
              <a:t>    echo "Connection failed: " . $e-&gt;</a:t>
            </a:r>
            <a:r>
              <a:rPr lang="en-IN" dirty="0" err="1"/>
              <a:t>getMessage</a:t>
            </a:r>
            <a:r>
              <a:rPr lang="en-IN" dirty="0"/>
              <a:t>();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?&gt;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23178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0FADE-4573-D237-0E67-6C701593E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4502" y="365126"/>
            <a:ext cx="7020847" cy="45719"/>
          </a:xfrm>
        </p:spPr>
        <p:txBody>
          <a:bodyPr>
            <a:normAutofit fontScale="90000"/>
          </a:bodyPr>
          <a:lstStyle/>
          <a:p>
            <a:r>
              <a:rPr lang="en-US" dirty="0"/>
              <a:t>session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6BBEE-9BC5-BE7A-ED5B-E3D3D8164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23" y="727092"/>
            <a:ext cx="8417027" cy="5449871"/>
          </a:xfrm>
        </p:spPr>
        <p:txBody>
          <a:bodyPr/>
          <a:lstStyle/>
          <a:p>
            <a:r>
              <a:rPr lang="en-US" b="1" dirty="0"/>
              <a:t>1️⃣ Sessions in PHP</a:t>
            </a:r>
          </a:p>
          <a:p>
            <a:r>
              <a:rPr lang="en-US" b="1" dirty="0"/>
              <a:t>What is a Session?</a:t>
            </a:r>
          </a:p>
          <a:p>
            <a:r>
              <a:rPr lang="en-US" dirty="0"/>
              <a:t>A </a:t>
            </a:r>
            <a:r>
              <a:rPr lang="en-US" b="1" dirty="0"/>
              <a:t>session</a:t>
            </a:r>
            <a:r>
              <a:rPr lang="en-US" dirty="0"/>
              <a:t> stores user data on the </a:t>
            </a:r>
            <a:r>
              <a:rPr lang="en-US" b="1" dirty="0"/>
              <a:t>server side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Each user is identified using a </a:t>
            </a:r>
            <a:r>
              <a:rPr lang="en-US" b="1" dirty="0"/>
              <a:t>unique session ID</a:t>
            </a:r>
            <a:r>
              <a:rPr lang="en-US" dirty="0"/>
              <a:t>, which is usually stored in a cookie on the client’s browser.</a:t>
            </a:r>
          </a:p>
          <a:p>
            <a:r>
              <a:rPr lang="en-US" b="1" dirty="0"/>
              <a:t>Key Features of Sessions</a:t>
            </a:r>
          </a:p>
          <a:p>
            <a:r>
              <a:rPr lang="en-US" dirty="0"/>
              <a:t>Data stored on </a:t>
            </a:r>
            <a:r>
              <a:rPr lang="en-US" b="1" dirty="0"/>
              <a:t>server</a:t>
            </a:r>
            <a:endParaRPr lang="en-US" dirty="0"/>
          </a:p>
          <a:p>
            <a:r>
              <a:rPr lang="en-US" dirty="0"/>
              <a:t>More </a:t>
            </a:r>
            <a:r>
              <a:rPr lang="en-US" b="1" dirty="0"/>
              <a:t>secure</a:t>
            </a:r>
            <a:endParaRPr lang="en-US" dirty="0"/>
          </a:p>
          <a:p>
            <a:r>
              <a:rPr lang="en-US" dirty="0"/>
              <a:t>Ends when browser is closed or session expires</a:t>
            </a:r>
          </a:p>
          <a:p>
            <a:r>
              <a:rPr lang="en-US" dirty="0"/>
              <a:t>Used for sensitive data</a:t>
            </a:r>
          </a:p>
          <a:p>
            <a:r>
              <a:rPr lang="en-US" b="1" dirty="0"/>
              <a:t>Common Uses</a:t>
            </a:r>
          </a:p>
          <a:p>
            <a:r>
              <a:rPr lang="en-US" dirty="0"/>
              <a:t>User login authentication</a:t>
            </a:r>
          </a:p>
          <a:p>
            <a:r>
              <a:rPr lang="en-US" dirty="0"/>
              <a:t>Shopping cart</a:t>
            </a:r>
          </a:p>
          <a:p>
            <a:r>
              <a:rPr lang="en-US" dirty="0"/>
              <a:t>User preferences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47666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A8944-C24D-0B89-AFC8-14EF2A2F7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Page 1: Create Session &amp; Set Cookie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01FF8-F052-32CD-4CD5-BFC1FC3C44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&lt;?</a:t>
            </a:r>
            <a:r>
              <a:rPr lang="en-IN" dirty="0" err="1"/>
              <a:t>php</a:t>
            </a:r>
            <a:endParaRPr lang="en-IN" dirty="0"/>
          </a:p>
          <a:p>
            <a:r>
              <a:rPr lang="en-IN" dirty="0"/>
              <a:t>// Start the session</a:t>
            </a:r>
          </a:p>
          <a:p>
            <a:r>
              <a:rPr lang="en-IN" dirty="0" err="1"/>
              <a:t>session_start</a:t>
            </a:r>
            <a:r>
              <a:rPr lang="en-IN" dirty="0"/>
              <a:t>();</a:t>
            </a:r>
          </a:p>
          <a:p>
            <a:endParaRPr lang="en-IN" dirty="0"/>
          </a:p>
          <a:p>
            <a:r>
              <a:rPr lang="en-IN" dirty="0"/>
              <a:t>// Store data in session</a:t>
            </a:r>
          </a:p>
          <a:p>
            <a:r>
              <a:rPr lang="en-IN" dirty="0"/>
              <a:t>$_SESSION['username'] = "Faizan";</a:t>
            </a:r>
          </a:p>
          <a:p>
            <a:r>
              <a:rPr lang="en-IN" dirty="0"/>
              <a:t>$_SESSION['email'] = "faizan@example.com";</a:t>
            </a:r>
          </a:p>
          <a:p>
            <a:endParaRPr lang="en-IN" dirty="0"/>
          </a:p>
          <a:p>
            <a:r>
              <a:rPr lang="en-IN" dirty="0"/>
              <a:t>// Set a cookie (expires in 1 day)</a:t>
            </a:r>
          </a:p>
          <a:p>
            <a:r>
              <a:rPr lang="en-IN" dirty="0" err="1"/>
              <a:t>setcookie</a:t>
            </a:r>
            <a:r>
              <a:rPr lang="en-IN" dirty="0"/>
              <a:t>("user", "Faizan", time() + (86400), "/");</a:t>
            </a:r>
          </a:p>
          <a:p>
            <a:endParaRPr lang="en-IN" dirty="0"/>
          </a:p>
          <a:p>
            <a:r>
              <a:rPr lang="en-IN" dirty="0"/>
              <a:t>echo "Session and Cookie have been set.&lt;</a:t>
            </a:r>
            <a:r>
              <a:rPr lang="en-IN" dirty="0" err="1"/>
              <a:t>br</a:t>
            </a:r>
            <a:r>
              <a:rPr lang="en-IN" dirty="0"/>
              <a:t>&gt;";</a:t>
            </a:r>
          </a:p>
          <a:p>
            <a:r>
              <a:rPr lang="en-IN" dirty="0"/>
              <a:t>echo "&lt;a </a:t>
            </a:r>
            <a:r>
              <a:rPr lang="en-IN" dirty="0" err="1"/>
              <a:t>href</a:t>
            </a:r>
            <a:r>
              <a:rPr lang="en-IN" dirty="0"/>
              <a:t>='</a:t>
            </a:r>
            <a:r>
              <a:rPr lang="en-IN" dirty="0" err="1"/>
              <a:t>dashboard.php</a:t>
            </a:r>
            <a:r>
              <a:rPr lang="en-IN" dirty="0"/>
              <a:t>'&gt;Go to Dashboard&lt;/a&gt;";</a:t>
            </a:r>
          </a:p>
          <a:p>
            <a:r>
              <a:rPr lang="en-IN" dirty="0"/>
              <a:t>?&gt;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50073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2727B-127C-BF64-83C8-2FF587CFF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3496" y="365126"/>
            <a:ext cx="6961853" cy="45719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coockies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E7644-1AE1-ABF8-53ED-4534B3E31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819" y="763474"/>
            <a:ext cx="8387531" cy="5413489"/>
          </a:xfrm>
        </p:spPr>
        <p:txBody>
          <a:bodyPr/>
          <a:lstStyle/>
          <a:p>
            <a:r>
              <a:rPr lang="en-US" b="1" dirty="0"/>
              <a:t>2️⃣ Cookies in PHP</a:t>
            </a:r>
          </a:p>
          <a:p>
            <a:r>
              <a:rPr lang="en-US" b="1" dirty="0"/>
              <a:t>What is a Cookie?</a:t>
            </a:r>
          </a:p>
          <a:p>
            <a:r>
              <a:rPr lang="en-US" dirty="0"/>
              <a:t>A </a:t>
            </a:r>
            <a:r>
              <a:rPr lang="en-US" b="1" dirty="0"/>
              <a:t>cookie</a:t>
            </a:r>
            <a:r>
              <a:rPr lang="en-US" dirty="0"/>
              <a:t> stores small amounts of data on the </a:t>
            </a:r>
            <a:r>
              <a:rPr lang="en-US" b="1" dirty="0"/>
              <a:t>client’s browser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It is sent with every request to the server.</a:t>
            </a:r>
          </a:p>
          <a:p>
            <a:r>
              <a:rPr lang="en-US" b="1" dirty="0"/>
              <a:t>Key Features of Cookies</a:t>
            </a:r>
          </a:p>
          <a:p>
            <a:r>
              <a:rPr lang="en-US" dirty="0"/>
              <a:t>Data stored on </a:t>
            </a:r>
            <a:r>
              <a:rPr lang="en-US" b="1" dirty="0"/>
              <a:t>client</a:t>
            </a:r>
            <a:endParaRPr lang="en-US" dirty="0"/>
          </a:p>
          <a:p>
            <a:r>
              <a:rPr lang="en-US" dirty="0"/>
              <a:t>Less secure</a:t>
            </a:r>
          </a:p>
          <a:p>
            <a:r>
              <a:rPr lang="en-US" dirty="0"/>
              <a:t>Has expiration time</a:t>
            </a:r>
          </a:p>
          <a:p>
            <a:r>
              <a:rPr lang="en-US" dirty="0"/>
              <a:t>Limited storage size (≈4KB)</a:t>
            </a:r>
          </a:p>
          <a:p>
            <a:r>
              <a:rPr lang="en-US" b="1" dirty="0"/>
              <a:t>Common Uses</a:t>
            </a:r>
          </a:p>
          <a:p>
            <a:r>
              <a:rPr lang="en-US" dirty="0"/>
              <a:t>Remember Me functionality</a:t>
            </a:r>
          </a:p>
          <a:p>
            <a:r>
              <a:rPr lang="en-US" dirty="0"/>
              <a:t>Tracking user activity</a:t>
            </a:r>
          </a:p>
          <a:p>
            <a:r>
              <a:rPr lang="en-US" dirty="0"/>
              <a:t>Saving preferences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90539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8DA3B-9E77-5BF3-9205-DEB3437FD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Page 2: Retrieve Session &amp; Cookie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4194D8-111D-2288-E99F-781C3F685B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IN" dirty="0"/>
              <a:t>&lt;?</a:t>
            </a:r>
            <a:r>
              <a:rPr lang="en-IN" dirty="0" err="1"/>
              <a:t>php</a:t>
            </a:r>
            <a:endParaRPr lang="en-IN" dirty="0"/>
          </a:p>
          <a:p>
            <a:r>
              <a:rPr lang="en-IN" dirty="0"/>
              <a:t>// Start the session</a:t>
            </a:r>
          </a:p>
          <a:p>
            <a:r>
              <a:rPr lang="en-IN" dirty="0" err="1"/>
              <a:t>session_start</a:t>
            </a:r>
            <a:r>
              <a:rPr lang="en-IN" dirty="0"/>
              <a:t>();</a:t>
            </a:r>
          </a:p>
          <a:p>
            <a:endParaRPr lang="en-IN" dirty="0"/>
          </a:p>
          <a:p>
            <a:r>
              <a:rPr lang="en-IN" dirty="0"/>
              <a:t>// Retrieve session data</a:t>
            </a:r>
          </a:p>
          <a:p>
            <a:r>
              <a:rPr lang="en-IN" dirty="0"/>
              <a:t>if (</a:t>
            </a:r>
            <a:r>
              <a:rPr lang="en-IN" dirty="0" err="1"/>
              <a:t>isset</a:t>
            </a:r>
            <a:r>
              <a:rPr lang="en-IN" dirty="0"/>
              <a:t>($_SESSION['username'])) {</a:t>
            </a:r>
          </a:p>
          <a:p>
            <a:r>
              <a:rPr lang="en-IN" dirty="0"/>
              <a:t>    echo "Username (Session): " . $_SESSION['username'] . "&lt;</a:t>
            </a:r>
            <a:r>
              <a:rPr lang="en-IN" dirty="0" err="1"/>
              <a:t>br</a:t>
            </a:r>
            <a:r>
              <a:rPr lang="en-IN" dirty="0"/>
              <a:t>&gt;";</a:t>
            </a:r>
          </a:p>
          <a:p>
            <a:r>
              <a:rPr lang="en-IN" dirty="0"/>
              <a:t>    echo "Email (Session): " . $_SESSION['email'] . "&lt;</a:t>
            </a:r>
            <a:r>
              <a:rPr lang="en-IN" dirty="0" err="1"/>
              <a:t>br</a:t>
            </a:r>
            <a:r>
              <a:rPr lang="en-IN" dirty="0"/>
              <a:t>&gt;";</a:t>
            </a:r>
          </a:p>
          <a:p>
            <a:r>
              <a:rPr lang="en-IN" dirty="0"/>
              <a:t>} else {</a:t>
            </a:r>
          </a:p>
          <a:p>
            <a:r>
              <a:rPr lang="en-IN" dirty="0"/>
              <a:t>    echo "Session data not found.&lt;</a:t>
            </a:r>
            <a:r>
              <a:rPr lang="en-IN" dirty="0" err="1"/>
              <a:t>br</a:t>
            </a:r>
            <a:r>
              <a:rPr lang="en-IN" dirty="0"/>
              <a:t>&gt;";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// Retrieve cookie data</a:t>
            </a:r>
          </a:p>
          <a:p>
            <a:r>
              <a:rPr lang="en-IN" dirty="0"/>
              <a:t>if (</a:t>
            </a:r>
            <a:r>
              <a:rPr lang="en-IN" dirty="0" err="1"/>
              <a:t>isset</a:t>
            </a:r>
            <a:r>
              <a:rPr lang="en-IN" dirty="0"/>
              <a:t>($_COOKIE['user'])) {</a:t>
            </a:r>
          </a:p>
          <a:p>
            <a:r>
              <a:rPr lang="en-IN" dirty="0"/>
              <a:t>    echo "User (Cookie): " . $_COOKIE['user'];</a:t>
            </a:r>
          </a:p>
          <a:p>
            <a:r>
              <a:rPr lang="en-IN" dirty="0"/>
              <a:t>} else {</a:t>
            </a:r>
          </a:p>
          <a:p>
            <a:r>
              <a:rPr lang="en-IN" dirty="0"/>
              <a:t>    echo "Cookie not found.";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?&gt;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43170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04657-9299-22C9-FDD8-BA69CBF11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Differences Between Sessions and Cookies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06F9D6F-8DE6-5DD7-C7C0-A74369FB07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2157362"/>
              </p:ext>
            </p:extLst>
          </p:nvPr>
        </p:nvGraphicFramePr>
        <p:xfrm>
          <a:off x="628650" y="2812574"/>
          <a:ext cx="7886700" cy="265938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201444967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14632549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3520807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/>
                        <a:t>Session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/>
                        <a:t>Cookie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21124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Storage Location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Server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Client (Browser)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72221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Security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More secure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Less secure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0755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Size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Larger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 (4KB)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6474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Lifetime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Temporary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Can be persistent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838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Expiration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Ends on browser close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Set by developer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38300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Network Transfer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Session ID only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sent every request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4082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 Case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Login, sensitive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Preferences, tracking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6476058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A36B883E-BEB4-E8BB-4C07-A206B620F5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Differences Between Sessions and Cookies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50364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04D01-379C-6847-C267-4ECC33F46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157316"/>
            <a:ext cx="7886700" cy="668593"/>
          </a:xfrm>
        </p:spPr>
        <p:txBody>
          <a:bodyPr>
            <a:normAutofit/>
          </a:bodyPr>
          <a:lstStyle/>
          <a:p>
            <a:r>
              <a:rPr lang="en-IN" dirty="0"/>
              <a:t>MVC Architecture –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57FF1-2D9F-851D-E316-C6A8EA571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645" y="1268361"/>
            <a:ext cx="8318705" cy="3264310"/>
          </a:xfrm>
        </p:spPr>
        <p:txBody>
          <a:bodyPr>
            <a:normAutofit/>
          </a:bodyPr>
          <a:lstStyle/>
          <a:p>
            <a:r>
              <a:rPr lang="en-US" b="1" dirty="0"/>
              <a:t>1. What is MVC?</a:t>
            </a:r>
          </a:p>
          <a:p>
            <a:r>
              <a:rPr lang="en-US" dirty="0"/>
              <a:t>The </a:t>
            </a:r>
            <a:r>
              <a:rPr lang="en-US" b="1" dirty="0"/>
              <a:t>Model-View-Controller (MVC)</a:t>
            </a:r>
            <a:r>
              <a:rPr lang="en-US" dirty="0"/>
              <a:t> architecture is a </a:t>
            </a:r>
            <a:r>
              <a:rPr lang="en-US" b="1" dirty="0"/>
              <a:t>design pattern</a:t>
            </a:r>
            <a:r>
              <a:rPr lang="en-US" dirty="0"/>
              <a:t> used in web development to separate an application into three main components:</a:t>
            </a:r>
          </a:p>
          <a:p>
            <a:r>
              <a:rPr lang="en-US" b="1" dirty="0"/>
              <a:t>Model</a:t>
            </a:r>
            <a:r>
              <a:rPr lang="en-US" dirty="0"/>
              <a:t> – Manages data, business logic, and database interactions.</a:t>
            </a:r>
          </a:p>
          <a:p>
            <a:r>
              <a:rPr lang="en-US" b="1" dirty="0"/>
              <a:t>View</a:t>
            </a:r>
            <a:r>
              <a:rPr lang="en-US" dirty="0"/>
              <a:t> – Handles the presentation layer (UI), displaying data to users.</a:t>
            </a:r>
          </a:p>
          <a:p>
            <a:r>
              <a:rPr lang="en-US" b="1" dirty="0"/>
              <a:t>Controller</a:t>
            </a:r>
            <a:r>
              <a:rPr lang="en-US" dirty="0"/>
              <a:t> – Processes user input, interacts with the Model, and decides which View to render.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43799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4998C-953E-355A-0A40-8648A2073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45718"/>
            <a:ext cx="7886700" cy="45719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3979C-B7F3-0D84-F11F-B5024FD002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23" y="1"/>
            <a:ext cx="8417027" cy="6176962"/>
          </a:xfrm>
        </p:spPr>
        <p:txBody>
          <a:bodyPr/>
          <a:lstStyle/>
          <a:p>
            <a:r>
              <a:rPr lang="en-US" b="1" dirty="0"/>
              <a:t>2. Advantages of MVC Architecture</a:t>
            </a:r>
          </a:p>
          <a:p>
            <a:r>
              <a:rPr lang="en-US" b="1" dirty="0"/>
              <a:t>Separation of Concerns</a:t>
            </a:r>
            <a:endParaRPr lang="en-US" dirty="0"/>
          </a:p>
          <a:p>
            <a:pPr lvl="1"/>
            <a:r>
              <a:rPr lang="en-US" dirty="0"/>
              <a:t>Each component has a specific responsibility.</a:t>
            </a:r>
          </a:p>
          <a:p>
            <a:pPr lvl="1"/>
            <a:r>
              <a:rPr lang="en-US" dirty="0"/>
              <a:t>Makes code easier to manage and debug.</a:t>
            </a:r>
          </a:p>
          <a:p>
            <a:r>
              <a:rPr lang="en-US" b="1" dirty="0"/>
              <a:t>Reusability</a:t>
            </a:r>
            <a:endParaRPr lang="en-US" dirty="0"/>
          </a:p>
          <a:p>
            <a:pPr lvl="1"/>
            <a:r>
              <a:rPr lang="en-US" dirty="0"/>
              <a:t>Models and Views can be reused across multiple controllers or projects.</a:t>
            </a:r>
          </a:p>
          <a:p>
            <a:r>
              <a:rPr lang="en-US" b="1" dirty="0"/>
              <a:t>Maintainability</a:t>
            </a:r>
            <a:endParaRPr lang="en-US" dirty="0"/>
          </a:p>
          <a:p>
            <a:pPr lvl="1"/>
            <a:r>
              <a:rPr lang="en-US" dirty="0"/>
              <a:t>Updates to business logic (Model) do not affect the presentation (View).</a:t>
            </a:r>
          </a:p>
          <a:p>
            <a:r>
              <a:rPr lang="en-US" b="1" dirty="0"/>
              <a:t>Scalability</a:t>
            </a:r>
            <a:endParaRPr lang="en-US" dirty="0"/>
          </a:p>
          <a:p>
            <a:pPr lvl="1"/>
            <a:r>
              <a:rPr lang="en-US" dirty="0"/>
              <a:t>Easier to expand the application by adding new models, views, or controllers.</a:t>
            </a:r>
          </a:p>
          <a:p>
            <a:r>
              <a:rPr lang="en-US" b="1" dirty="0"/>
              <a:t>Supports Team Development</a:t>
            </a:r>
            <a:endParaRPr lang="en-US" dirty="0"/>
          </a:p>
          <a:p>
            <a:pPr lvl="1"/>
            <a:r>
              <a:rPr lang="en-US" dirty="0"/>
              <a:t>Designers can work on Views, developers on Models, and controllers separately.</a:t>
            </a:r>
          </a:p>
          <a:p>
            <a:r>
              <a:rPr lang="en-US" b="1" dirty="0"/>
              <a:t>Improved Testing</a:t>
            </a:r>
            <a:endParaRPr lang="en-US" dirty="0"/>
          </a:p>
          <a:p>
            <a:pPr lvl="1"/>
            <a:r>
              <a:rPr lang="en-US" dirty="0"/>
              <a:t>Since components are separated, unit testing is easier.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383442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589FB-09DF-CE68-45FB-C6C08742A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9028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Simple MVC Example</a:t>
            </a:r>
            <a:br>
              <a:rPr lang="en-IN" b="1" dirty="0"/>
            </a:br>
            <a:r>
              <a:rPr lang="en-IN" b="1" dirty="0"/>
              <a:t>Folder Structure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4C6690-2179-1F30-9FF2-AE5C3D20F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3943350" cy="3267485"/>
          </a:xfrm>
        </p:spPr>
        <p:txBody>
          <a:bodyPr/>
          <a:lstStyle/>
          <a:p>
            <a:r>
              <a:rPr lang="en-IN" dirty="0" err="1"/>
              <a:t>mvc</a:t>
            </a:r>
            <a:r>
              <a:rPr lang="en-IN" dirty="0"/>
              <a:t>/</a:t>
            </a:r>
          </a:p>
          <a:p>
            <a:r>
              <a:rPr lang="en-IN" dirty="0"/>
              <a:t>├── </a:t>
            </a:r>
            <a:r>
              <a:rPr lang="en-IN" dirty="0" err="1"/>
              <a:t>index.php</a:t>
            </a:r>
            <a:endParaRPr lang="en-IN" dirty="0"/>
          </a:p>
          <a:p>
            <a:r>
              <a:rPr lang="en-IN" dirty="0"/>
              <a:t>├── controllers/</a:t>
            </a:r>
          </a:p>
          <a:p>
            <a:r>
              <a:rPr lang="en-IN" dirty="0"/>
              <a:t>│   └── </a:t>
            </a:r>
            <a:r>
              <a:rPr lang="en-IN" dirty="0" err="1"/>
              <a:t>UserController.php</a:t>
            </a:r>
            <a:endParaRPr lang="en-IN" dirty="0"/>
          </a:p>
          <a:p>
            <a:r>
              <a:rPr lang="en-IN" dirty="0"/>
              <a:t>├── models/</a:t>
            </a:r>
          </a:p>
          <a:p>
            <a:r>
              <a:rPr lang="en-IN" dirty="0"/>
              <a:t>│   └── </a:t>
            </a:r>
            <a:r>
              <a:rPr lang="en-IN" dirty="0" err="1"/>
              <a:t>User.php</a:t>
            </a:r>
            <a:endParaRPr lang="en-IN" dirty="0"/>
          </a:p>
          <a:p>
            <a:r>
              <a:rPr lang="en-IN" dirty="0"/>
              <a:t>└── views/</a:t>
            </a:r>
          </a:p>
          <a:p>
            <a:r>
              <a:rPr lang="en-IN" dirty="0"/>
              <a:t>    └── </a:t>
            </a:r>
            <a:r>
              <a:rPr lang="en-IN" dirty="0" err="1"/>
              <a:t>user_view.php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330270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106B7-ACE5-56FE-FF89-F633B9738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8563F-A80C-E8AF-3316-C2916FB0D3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Explanation of MVC Flow</a:t>
            </a:r>
          </a:p>
          <a:p>
            <a:r>
              <a:rPr lang="en-IN" b="1" dirty="0"/>
              <a:t>User visits</a:t>
            </a:r>
            <a:r>
              <a:rPr lang="en-IN" dirty="0"/>
              <a:t> the application (</a:t>
            </a:r>
            <a:r>
              <a:rPr lang="en-IN" dirty="0" err="1"/>
              <a:t>index.php</a:t>
            </a:r>
            <a:r>
              <a:rPr lang="en-IN" dirty="0"/>
              <a:t>)</a:t>
            </a:r>
          </a:p>
          <a:p>
            <a:r>
              <a:rPr lang="en-IN" b="1" dirty="0"/>
              <a:t>Controller</a:t>
            </a:r>
            <a:r>
              <a:rPr lang="en-IN" dirty="0"/>
              <a:t> (</a:t>
            </a:r>
            <a:r>
              <a:rPr lang="en-IN" dirty="0" err="1"/>
              <a:t>UserController</a:t>
            </a:r>
            <a:r>
              <a:rPr lang="en-IN" dirty="0"/>
              <a:t>) is called</a:t>
            </a:r>
          </a:p>
          <a:p>
            <a:r>
              <a:rPr lang="en-IN" dirty="0"/>
              <a:t>Controller </a:t>
            </a:r>
            <a:r>
              <a:rPr lang="en-IN" b="1" dirty="0"/>
              <a:t>retrieves data</a:t>
            </a:r>
            <a:r>
              <a:rPr lang="en-IN" dirty="0"/>
              <a:t> from the </a:t>
            </a:r>
            <a:r>
              <a:rPr lang="en-IN" b="1" dirty="0"/>
              <a:t>Model</a:t>
            </a:r>
            <a:r>
              <a:rPr lang="en-IN" dirty="0"/>
              <a:t> (User)</a:t>
            </a:r>
          </a:p>
          <a:p>
            <a:r>
              <a:rPr lang="en-IN" dirty="0"/>
              <a:t>Controller </a:t>
            </a:r>
            <a:r>
              <a:rPr lang="en-IN" b="1" dirty="0"/>
              <a:t>passes data</a:t>
            </a:r>
            <a:r>
              <a:rPr lang="en-IN" dirty="0"/>
              <a:t> to the </a:t>
            </a:r>
            <a:r>
              <a:rPr lang="en-IN" b="1" dirty="0"/>
              <a:t>View</a:t>
            </a:r>
            <a:r>
              <a:rPr lang="en-IN" dirty="0"/>
              <a:t> (</a:t>
            </a:r>
            <a:r>
              <a:rPr lang="en-IN" dirty="0" err="1"/>
              <a:t>user_view.php</a:t>
            </a:r>
            <a:r>
              <a:rPr lang="en-IN" dirty="0"/>
              <a:t>)</a:t>
            </a:r>
          </a:p>
          <a:p>
            <a:r>
              <a:rPr lang="en-IN" dirty="0"/>
              <a:t>View </a:t>
            </a:r>
            <a:r>
              <a:rPr lang="en-IN" b="1" dirty="0"/>
              <a:t>renders the HTML</a:t>
            </a:r>
            <a:r>
              <a:rPr lang="en-IN" dirty="0"/>
              <a:t> for the user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578512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7987" y="274638"/>
            <a:ext cx="8804787" cy="45719"/>
          </a:xfrm>
        </p:spPr>
        <p:txBody>
          <a:bodyPr>
            <a:normAutofit fontScale="90000"/>
          </a:bodyPr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323" y="550606"/>
            <a:ext cx="8588477" cy="630739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Advanced PHP plays a crucial role in building </a:t>
            </a:r>
            <a:r>
              <a:rPr lang="en-US" b="1" dirty="0"/>
              <a:t>secure, scalable, and maintainable web applications</a:t>
            </a:r>
            <a:r>
              <a:rPr lang="en-US" dirty="0"/>
              <a:t>. By using </a:t>
            </a:r>
            <a:r>
              <a:rPr lang="en-US" b="1" dirty="0"/>
              <a:t>Object-Oriented Programming (OOP) concepts</a:t>
            </a:r>
            <a:r>
              <a:rPr lang="en-US" dirty="0"/>
              <a:t>, PHP developers can organize code efficiently, improve reusability, and reduce complexity in large projects. Concepts such as </a:t>
            </a:r>
            <a:r>
              <a:rPr lang="en-US" b="1" dirty="0"/>
              <a:t>classes, objects, encapsulation, inheritance, polymorphism, and abstraction</a:t>
            </a:r>
            <a:r>
              <a:rPr lang="en-US" dirty="0"/>
              <a:t> help in creating modular applications where each component has a clear responsibility.</a:t>
            </a:r>
          </a:p>
          <a:p>
            <a:r>
              <a:rPr lang="en-US" dirty="0"/>
              <a:t>The use of </a:t>
            </a:r>
            <a:r>
              <a:rPr lang="en-US" b="1" dirty="0"/>
              <a:t>constructors, destructors, and magic methods</a:t>
            </a:r>
            <a:r>
              <a:rPr lang="en-US" dirty="0"/>
              <a:t> enhances automation in object lifecycle management, making applications more efficient and easier to manage. Features like </a:t>
            </a:r>
            <a:r>
              <a:rPr lang="en-US" b="1" dirty="0"/>
              <a:t>scope resolution operator, traits, visibility modifiers, type hinting, and the final keyword</a:t>
            </a:r>
            <a:r>
              <a:rPr lang="en-US" dirty="0"/>
              <a:t> provide better control over class behavior, access levels, and code reuse, ensuring clean and well-structured programming practices.</a:t>
            </a:r>
          </a:p>
          <a:p>
            <a:r>
              <a:rPr lang="en-US" dirty="0"/>
              <a:t>Advanced PHP also emphasizes </a:t>
            </a:r>
            <a:r>
              <a:rPr lang="en-US" b="1" dirty="0"/>
              <a:t>security and data integrity</a:t>
            </a:r>
            <a:r>
              <a:rPr lang="en-US" dirty="0"/>
              <a:t>. Techniques such as </a:t>
            </a:r>
            <a:r>
              <a:rPr lang="en-US" b="1" dirty="0"/>
              <a:t>input validation, prepared statements to prevent SQL injection, secure email handling, session and cookie management, and safe file uploads</a:t>
            </a:r>
            <a:r>
              <a:rPr lang="en-US" dirty="0"/>
              <a:t> protect applications from common vulnerabilities. Exception handling using </a:t>
            </a:r>
            <a:r>
              <a:rPr lang="en-US" b="1" dirty="0"/>
              <a:t>try-catch blocks</a:t>
            </a:r>
            <a:r>
              <a:rPr lang="en-US" dirty="0"/>
              <a:t> further improves application stability by allowing graceful error handling and better debugging.</a:t>
            </a:r>
          </a:p>
          <a:p>
            <a:r>
              <a:rPr lang="en-US" dirty="0"/>
              <a:t>The </a:t>
            </a:r>
            <a:r>
              <a:rPr lang="en-US" b="1" dirty="0"/>
              <a:t>MVC (Model-View-Controller) architecture</a:t>
            </a:r>
            <a:r>
              <a:rPr lang="en-US" dirty="0"/>
              <a:t> is a major advantage of Advanced PHP, as it separates business logic, user interface, and control flow. This separation makes applications easier to develop, test, maintain, and scale. MVC-based development is widely used in modern frameworks and enterprise-level applications.</a:t>
            </a:r>
          </a:p>
          <a:p>
            <a:r>
              <a:rPr lang="en-US" dirty="0"/>
              <a:t>In conclusion, Advanced PHP is not just about writing PHP code, but about following </a:t>
            </a:r>
            <a:r>
              <a:rPr lang="en-US" b="1" dirty="0"/>
              <a:t>professional development standards</a:t>
            </a:r>
            <a:r>
              <a:rPr lang="en-US" dirty="0"/>
              <a:t>. Mastery of Advanced PHP concepts enables developers to build </a:t>
            </a:r>
            <a:r>
              <a:rPr lang="en-US" b="1" dirty="0"/>
              <a:t>real-world applications</a:t>
            </a:r>
            <a:r>
              <a:rPr lang="en-US" dirty="0"/>
              <a:t> such as content management systems, e-commerce platforms, and management systems with high performance, strong security, and long-term maintainability. It forms a solid foundation for learning modern PHP frameworks and for becoming a skilled backend web developer.</a:t>
            </a:r>
          </a:p>
          <a:p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</TotalTime>
  <Words>3946</Words>
  <Application>Microsoft Office PowerPoint</Application>
  <PresentationFormat>On-screen Show (4:3)</PresentationFormat>
  <Paragraphs>709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0" baseType="lpstr">
      <vt:lpstr>Arial</vt:lpstr>
      <vt:lpstr>Calibri</vt:lpstr>
      <vt:lpstr>Calibri Light</vt:lpstr>
      <vt:lpstr>Courier New</vt:lpstr>
      <vt:lpstr>Office Theme</vt:lpstr>
      <vt:lpstr>Module 2 – Advanced PHP Exercises</vt:lpstr>
      <vt:lpstr>OOP Introduction</vt:lpstr>
      <vt:lpstr>Encapsulation</vt:lpstr>
      <vt:lpstr>Here example code of encapsulation</vt:lpstr>
      <vt:lpstr>Class in PHP</vt:lpstr>
      <vt:lpstr>Here is example code of class</vt:lpstr>
      <vt:lpstr>Object in PHP</vt:lpstr>
      <vt:lpstr>Here is example code of object</vt:lpstr>
      <vt:lpstr>Inheritance</vt:lpstr>
      <vt:lpstr>Here is basic inheritance example</vt:lpstr>
      <vt:lpstr>Inheritance with constructor</vt:lpstr>
      <vt:lpstr>Method Overloading</vt:lpstr>
      <vt:lpstr>Here is simple example code of method overloadnig</vt:lpstr>
      <vt:lpstr>Abstraction &amp; Interface</vt:lpstr>
      <vt:lpstr>Example code of abstract class</vt:lpstr>
      <vt:lpstr>Example code of interface</vt:lpstr>
      <vt:lpstr>Example code of combined(abstract+interface)</vt:lpstr>
      <vt:lpstr>Constructor</vt:lpstr>
      <vt:lpstr>Destructor</vt:lpstr>
      <vt:lpstr>Example of destructure</vt:lpstr>
      <vt:lpstr>Magic Methods</vt:lpstr>
      <vt:lpstr>Exapmle of magic methode</vt:lpstr>
      <vt:lpstr>Scope Resolution Operator</vt:lpstr>
      <vt:lpstr>Example of scope resolution</vt:lpstr>
      <vt:lpstr>Traits</vt:lpstr>
      <vt:lpstr>Visibility</vt:lpstr>
      <vt:lpstr>Type hinting</vt:lpstr>
      <vt:lpstr>Final Keyword</vt:lpstr>
      <vt:lpstr>Email Security Function – Theory</vt:lpstr>
      <vt:lpstr>File Handling in PHP – Theory</vt:lpstr>
      <vt:lpstr>Email handling</vt:lpstr>
      <vt:lpstr>Connection with mysql database</vt:lpstr>
      <vt:lpstr>PowerPoint Presentation</vt:lpstr>
      <vt:lpstr>PDO</vt:lpstr>
      <vt:lpstr>PowerPoint Presentation</vt:lpstr>
      <vt:lpstr>session</vt:lpstr>
      <vt:lpstr>Page 1: Create Session &amp; Set Cookie</vt:lpstr>
      <vt:lpstr>coockies</vt:lpstr>
      <vt:lpstr>Page 2: Retrieve Session &amp; Cookie</vt:lpstr>
      <vt:lpstr>Key Differences Between Sessions and Cookies</vt:lpstr>
      <vt:lpstr>MVC Architecture – Theory</vt:lpstr>
      <vt:lpstr>PowerPoint Presentation</vt:lpstr>
      <vt:lpstr>Simple MVC Example Folder Structure </vt:lpstr>
      <vt:lpstr>PowerPoint Presentation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dell</cp:lastModifiedBy>
  <cp:revision>26</cp:revision>
  <dcterms:created xsi:type="dcterms:W3CDTF">2013-01-27T09:14:16Z</dcterms:created>
  <dcterms:modified xsi:type="dcterms:W3CDTF">2025-12-23T07:36:17Z</dcterms:modified>
  <cp:category/>
</cp:coreProperties>
</file>